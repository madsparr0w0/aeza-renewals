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1d54d9a1c240f3" /><Relationship Type="http://schemas.openxmlformats.org/officeDocument/2006/relationships/extended-properties" Target="/docProps/app.xml" Id="Rc524e8e462404a01" /><Relationship Type="http://schemas.openxmlformats.org/officeDocument/2006/relationships/officeDocument" Target="/ppt/presentation.xml" Id="R012dd5d36dd945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c1c3d27a214b87"/>
  </p:sldMasterIdLst>
  <p:notesMasterIdLst>
    <p:notesMasterId xmlns:r="http://schemas.openxmlformats.org/officeDocument/2006/relationships" r:id="R542a015619264dd2"/>
  </p:notesMasterIdLst>
  <p:sldIdLst>
    <p:sldId xmlns:r="http://schemas.openxmlformats.org/officeDocument/2006/relationships" id="256" r:id="Rc66b074e1972471d"/>
    <p:sldId xmlns:r="http://schemas.openxmlformats.org/officeDocument/2006/relationships" id="257" r:id="Rd08924cc01a44f78"/>
    <p:sldId xmlns:r="http://schemas.openxmlformats.org/officeDocument/2006/relationships" id="258" r:id="R70a9ec4f6b204b76"/>
    <p:sldId xmlns:r="http://schemas.openxmlformats.org/officeDocument/2006/relationships" id="259" r:id="Rb62bea50532b4d62"/>
    <p:sldId xmlns:r="http://schemas.openxmlformats.org/officeDocument/2006/relationships" id="260" r:id="R53ac2db18a1c43d6"/>
    <p:sldId xmlns:r="http://schemas.openxmlformats.org/officeDocument/2006/relationships" id="261" r:id="Re5b3434c902c48b1"/>
    <p:sldId xmlns:r="http://schemas.openxmlformats.org/officeDocument/2006/relationships" id="262" r:id="R112b13fe08004149"/>
    <p:sldId xmlns:r="http://schemas.openxmlformats.org/officeDocument/2006/relationships" id="263" r:id="R9f590d4d55e64166"/>
    <p:sldId xmlns:r="http://schemas.openxmlformats.org/officeDocument/2006/relationships" id="264" r:id="R3b87fdd683144a5e"/>
    <p:sldId xmlns:r="http://schemas.openxmlformats.org/officeDocument/2006/relationships" id="265" r:id="Rd3b7f32302754dbd"/>
    <p:sldId xmlns:r="http://schemas.openxmlformats.org/officeDocument/2006/relationships" id="266" r:id="Ree3a941eefb344f3"/>
    <p:sldId xmlns:r="http://schemas.openxmlformats.org/officeDocument/2006/relationships" id="267" r:id="Rbfd8e326bf1646ea"/>
    <p:sldId xmlns:r="http://schemas.openxmlformats.org/officeDocument/2006/relationships" id="268" r:id="R1c697115107f44e9"/>
    <p:sldId xmlns:r="http://schemas.openxmlformats.org/officeDocument/2006/relationships" id="269" r:id="R36e16df8396c43fe"/>
    <p:sldId xmlns:r="http://schemas.openxmlformats.org/officeDocument/2006/relationships" id="270" r:id="R26775620a9554a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4d1b5c565747e1" /><Relationship Type="http://schemas.openxmlformats.org/officeDocument/2006/relationships/slideMaster" Target="/ppt/slideMasters/slideMaster1.xml" Id="Ra3c1c3d27a214b87" /><Relationship Type="http://schemas.openxmlformats.org/officeDocument/2006/relationships/notesMaster" Target="/ppt/notesMasters/notesMaster1.xml" Id="R542a015619264dd2" /><Relationship Type="http://schemas.openxmlformats.org/officeDocument/2006/relationships/presProps" Target="/ppt/presProps.xml" Id="Rddd80267c5d741c4" /><Relationship Type="http://schemas.openxmlformats.org/officeDocument/2006/relationships/tableStyles" Target="/ppt/tableStyles.xml" Id="R4384b40351414801" /><Relationship Type="http://schemas.openxmlformats.org/officeDocument/2006/relationships/slide" Target="/ppt/slides/slide1.xml" Id="Rc66b074e1972471d" /><Relationship Type="http://schemas.openxmlformats.org/officeDocument/2006/relationships/slide" Target="/ppt/slides/slide2.xml" Id="Rd08924cc01a44f78" /><Relationship Type="http://schemas.openxmlformats.org/officeDocument/2006/relationships/slide" Target="/ppt/slides/slide3.xml" Id="R70a9ec4f6b204b76" /><Relationship Type="http://schemas.openxmlformats.org/officeDocument/2006/relationships/slide" Target="/ppt/slides/slide4.xml" Id="Rb62bea50532b4d62" /><Relationship Type="http://schemas.openxmlformats.org/officeDocument/2006/relationships/slide" Target="/ppt/slides/slide5.xml" Id="R53ac2db18a1c43d6" /><Relationship Type="http://schemas.openxmlformats.org/officeDocument/2006/relationships/slide" Target="/ppt/slides/slide6.xml" Id="Re5b3434c902c48b1" /><Relationship Type="http://schemas.openxmlformats.org/officeDocument/2006/relationships/slide" Target="/ppt/slides/slide7.xml" Id="R112b13fe08004149" /><Relationship Type="http://schemas.openxmlformats.org/officeDocument/2006/relationships/slide" Target="/ppt/slides/slide8.xml" Id="R9f590d4d55e64166" /><Relationship Type="http://schemas.openxmlformats.org/officeDocument/2006/relationships/slide" Target="/ppt/slides/slide9.xml" Id="R3b87fdd683144a5e" /><Relationship Type="http://schemas.openxmlformats.org/officeDocument/2006/relationships/slide" Target="/ppt/slides/slide10.xml" Id="Rd3b7f32302754dbd" /><Relationship Type="http://schemas.openxmlformats.org/officeDocument/2006/relationships/slide" Target="/ppt/slides/slide11.xml" Id="Ree3a941eefb344f3" /><Relationship Type="http://schemas.openxmlformats.org/officeDocument/2006/relationships/slide" Target="/ppt/slides/slide12.xml" Id="Rbfd8e326bf1646ea" /><Relationship Type="http://schemas.openxmlformats.org/officeDocument/2006/relationships/slide" Target="/ppt/slides/slide13.xml" Id="R1c697115107f44e9" /><Relationship Type="http://schemas.openxmlformats.org/officeDocument/2006/relationships/slide" Target="/ppt/slides/slide14.xml" Id="R36e16df8396c43fe" /><Relationship Type="http://schemas.openxmlformats.org/officeDocument/2006/relationships/slide" Target="/ppt/slides/slide15.xml" Id="R26775620a9554a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6a13f679444e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8a2d7f0a444b6c" /><Relationship Type="http://schemas.openxmlformats.org/officeDocument/2006/relationships/notesMaster" Target="/ppt/notesMasters/notesMaster1.xml" Id="R54aad92bd22a45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f74051d915489f" /><Relationship Type="http://schemas.openxmlformats.org/officeDocument/2006/relationships/notesMaster" Target="/ppt/notesMasters/notesMaster1.xml" Id="R4087014959e146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7d564cba3e491a" /><Relationship Type="http://schemas.openxmlformats.org/officeDocument/2006/relationships/notesMaster" Target="/ppt/notesMasters/notesMaster1.xml" Id="R7198a26b1ee44e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16c76f8e614a94" /><Relationship Type="http://schemas.openxmlformats.org/officeDocument/2006/relationships/notesMaster" Target="/ppt/notesMasters/notesMaster1.xml" Id="R27a509b5347d45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3fc3cd891d4116" /><Relationship Type="http://schemas.openxmlformats.org/officeDocument/2006/relationships/notesMaster" Target="/ppt/notesMasters/notesMaster1.xml" Id="R0e3d7a6bb3ba41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fa285c7cbc4934" /><Relationship Type="http://schemas.openxmlformats.org/officeDocument/2006/relationships/notesMaster" Target="/ppt/notesMasters/notesMaster1.xml" Id="R61bfcdb9b52146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c66e850cd946e5" /><Relationship Type="http://schemas.openxmlformats.org/officeDocument/2006/relationships/notesMaster" Target="/ppt/notesMasters/notesMaster1.xml" Id="R67b1377760b04e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6c721c25194565" /><Relationship Type="http://schemas.openxmlformats.org/officeDocument/2006/relationships/notesMaster" Target="/ppt/notesMasters/notesMaster1.xml" Id="R77c8fca2f4b540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868d841f3649e2" /><Relationship Type="http://schemas.openxmlformats.org/officeDocument/2006/relationships/notesMaster" Target="/ppt/notesMasters/notesMaster1.xml" Id="R122a2d2247a340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ee3879d60f4f88" /><Relationship Type="http://schemas.openxmlformats.org/officeDocument/2006/relationships/notesMaster" Target="/ppt/notesMasters/notesMaster1.xml" Id="Rfae4de434bd44b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35ff1ed0d24e92" /><Relationship Type="http://schemas.openxmlformats.org/officeDocument/2006/relationships/notesMaster" Target="/ppt/notesMasters/notesMaster1.xml" Id="R5bab35ae23bc46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a369c11b8541f8" /><Relationship Type="http://schemas.openxmlformats.org/officeDocument/2006/relationships/notesMaster" Target="/ppt/notesMasters/notesMaster1.xml" Id="Rffce94f4466a4f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7f17c46b524653" /><Relationship Type="http://schemas.openxmlformats.org/officeDocument/2006/relationships/notesMaster" Target="/ppt/notesMasters/notesMaster1.xml" Id="R65d7cd3567094c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56abee1d214da7" /><Relationship Type="http://schemas.openxmlformats.org/officeDocument/2006/relationships/notesMaster" Target="/ppt/notesMasters/notesMaster1.xml" Id="Rcc04de97236042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b3c1adcbf74649" /><Relationship Type="http://schemas.openxmlformats.org/officeDocument/2006/relationships/notesMaster" Target="/ppt/notesMasters/notesMaster1.xml" Id="R81591bd6ab7042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Слайд 1. Задача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представляем «Aéza · Услуги и продления» — модуль учёта регулярных расходов с напоминаниями в Telegram. Он помогает команде видеть, что нужно оплатить, к какому сроку, что уже оплачено и где появилась просрочка.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адаптировали исходный кейс под инфраструктурные услуги Aéza: серверы, хостинг и другие регулярные расходы. При этом сохранили обязательные правила задания: две роли, ежемесячные периоды, три валюты, история оплат и напоминания за три дня.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требований: выданный кейс Invoice Keeper, 18 страниц. Стр. 1–7. Фото бота предоставлено пользователем, assets/telegram/provenance.md.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Слайд 2. Проблема и польза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Когда услуг несколько, сроки приходится держать в голове, переписке или таблице. Участники команды могут по-разному понимать, оплатили ли конкретный месяц. А отметка об одной оплате иногда заменяет всю историю.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Наше решение собирает сроки и отметки в одном месте. Администратор задаёт регулярный расход, система создаёт отдельные месячные периоды и напоминает о ближайшем сроке. Пользователь подтверждает оплату конкретного периода. Так команда получает общий ответ на три вопроса: что предстоит оплатить, что уже закрыто и что требует внимания.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требований: выданный кейс Invoice Keeper, 18 страниц. Стр. 2, 17. Доказательство: актуальный снимок своего стенда, 24.10.2026. Польза описана как сценарий, экономический эффект не измерялся.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Слайд 3. Граница с кабинетом Aéza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Сейчас это работающий модуль ручного учёта в оформлении Aéza. Названия, суммы и сроки вводятся в него вручную. Демонстрационные суммы условны и не являются тарифами провайдера.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Услугу оплачивают в официальном кабинете Aéza, после чего фиксируют факт в нашем модуле. Отметка «Оплачено» не списывает деньги и не продлевает сервер. Прекращение учёта не отключает услугу. Автоматический импорт счетов, баланса и SSO пока не подключены. Это позволяет честно отделить готовую часть проекта от следующего этапа интеграции.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Факт реализации: docs/architecture.md, раздел «Граница с кабинетом Aéza», settings.integration_mode=manual. Демосуммы не являются тарифами Aéza.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Слайд 4. Роли и работа команды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нас две роли. Администратор добавляет регулярные расходы, меняет будущие условия и управляет обычными пользователями. Его собственная учётная запись задаётся при запуске и через панель не редактируется.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Обычный пользователь видит общий список и может подтвердить оплату, отменить отметку или исправить фактическую дату. Эти ограничения проверяет сервер. Если пользователь попробует вызвать административный API напрямую, запрос будет отклонён, даже если обойти интерфейс.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требований: выданный кейс Invoice Keeper, 18 страниц. Стр. 6, 9, 10. Проверка backend/auth.py и backend/app.py, внешний RBAC-прогон .cache/verify-remote.py.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Слайд 5. Серия и отдельные периоды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Ключевое решение в модели данных — разделить регулярный расход и его месячные периоды. Например, сервер — это одна серия, а октябрьская и ноябрьская оплаты — две отдельные записи со своими сроками и статусами.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Оплата октября не делает ноябрь оплаченным. Просрочка октября не мешает появиться следующему месяцу. Каждый период хранит собственную сумму и валюту, поэтому история не переписывается при изменении будущих условий. Прекращение серии сохраняет прошлые записи, но останавливает создание новых периодов и напоминаний.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требований: выданный кейс Invoice Keeper, 18 страниц. Стр. 4–5, 10–11. Модель recurring_payments + payment_occurrences, снимки суммы/валюты периода, docs/architecture.md. Схема иллюстрирует условный пример, не данные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Слайд 6. Даты и деньги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Сроки рассчитываются по календарю в едином часовом поясе, заданном в настройках запуска. Если исходный срок — 31 января, следующий будет в последний день февраля, а затем снова 31 марта. Мы сохраняем исходное число месяца, чтобы короткий февраль не сдвинул все следующие сроки.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день срока просрочки ещё нет. Она появляется со следующего дня. Для оплаченного периода расчёт зависит от фактической даты: её исправление пересчитывает просрочку, но не меняет исходный срок.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Деньги хранятся целыми минимальными единицами, например копейками. RUB, USD и EUR считаются отдельно. Мы не складываем рубли с долларами и не добавляем ненужную для кейса конвертацию.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требований: выданный кейс Invoice Keeper, 18 страниц. Стр. 3–5, 7, 11. backend/domain.py, backend/tests/test_domain.py. Конвертации валют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Слайд 7. Напоминания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Напоминания отправляет отдельный фоновый процесс. Открытая страница для этого не нужна. Он проверяет сроки каждые 15 секунд. За три календарных дня до оплаты появляется сообщение с названием, суммой, валютой и датой. Если расход добавили позже этого момента, он попадёт в ближайшую проверку.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каждого периода в базе создаётся единственное задание доставки. Повторная проверка или перезапуск не повторяют сообщение с уже подтверждённой отправкой. Оплаченный период и прекращённая серия перед отправкой исключаются.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Есть важная граница: если Telegram принял сообщение, а сетевой ответ потерялся, сервер не может достоверно узнать результат. Мы сохраняем такую отправку как неопределённую и автоматически её не повторяем. Администратор видит состояние в журнале доставки и сверяет чат. Поэтому мы не обещаем абсолютную доставку ровно один раз при любом сетевом сбое.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требований: выданный кейс Invoice Keeper, 18 страниц. Стр. 7–8, 10. backend/worker.py и docs/architecture.md: атомарный outbox, sent/unknown. Кейс просит без дублей, абсолютное exactly-once при неопределённом внешнем ответе не заявляется. На стенде три sent сохранились после перезапуска.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Слайд 8. Архитектура и стек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Интерфейс написан на React и TypeScript, сборка выполняется Vite. Сервер — Python и FastAPI. Данные хранятся в SQLite. Отдельно работают процесс напоминаний и обработчик команд Telegram. Остановка командного бота не останавливает проверку сроков.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командного модуля на одном сервере SQLite упрощает запуск и резервное копирование. Нам не нужен отдельный сервер базы или брокер очередей. При переходе на несколько серверов потребуется PostgreSQL и другой механизм блокировки заданий. Сейчас приложение развёрнуто на тестовом сервере, доступно по HTTPS, а процессы запускаются службами системы.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Архитектурная схема создана редактируемыми объектами по текущим исходникам, README и docs/architecture.md. Линии обозначают обмен данными, worker и poller используют общую SQLite и Telegram Bot API. Масштабирование на несколько хостов потребует другой БД/блокировок.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Слайд 9. API и защита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API — это способ, которым страница обращается к серверу. Когда пользователь нажимает «Оплачено», интерфейс отправляет запрос, сервер проверяет сессию и права, изменяет нужный период и возвращает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Маршруты имеют общий префикс `/api/v1`. Реализованы обязательные операции входа, регулярных расходов, отдельных оплат, валютных итогов и пользователей. В поставке есть OpenAPI-файл и рабочая Swagger-документация.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Пароли хранятся в виде хешей. Сессионный cookie защищён от чтения JavaScript, а изменяющие запросы требуют CSRF-токен и допустимый адрес источника. Токен Telegram находится на сервере и в браузер не передаётся. Наш API уже обслуживает приложение; для обычной работы пользователю не нужно вызывать его вручную.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требований: выданный кейс Invoice Keeper, 18 страниц. Стр. 12–14. Все обязательные маршруты есть в backend/app.py и openapi.json. API модуля отдельно от Telegram Bot API и будущего подключения к биллингу.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Слайд 10. Дополнительные возможности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Поверх обязательной части мы добавили календарь, поиск и фильтры, экспорт CSV, журнал действий и диагностику напоминаний. Условия серии можно поменять со следующего месяца, сохранив текущий период и историю.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Telegram доступны сводка, продления, ближайшие сроки и просроченные периоды с навигацией кнопками. Бот показывает данные только в настроенном чате. Оплата подтверждается в веб-панели.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Интерфейс адаптирован к телефону. Оформление, локальные шрифты и спокойные анимации подстроены под визуальный язык Aéza. Движение учитывает системную настройку уменьшения анимации. Эти детали делают повседневную работу удобнее, но не заменяют корректность расчётов и прав.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требований: выданный кейс Invoice Keeper, 18 страниц. Стр. 16: дополнительные возможности. Реализованы календарь без отдельной агрегации итогов на дату, журнал и UX/UI. Годовой бюджет, SMTP/webhook, чеки и кнопка оплаты в Telegram не реализованы. Снимок собственного адаптивного интерфейса, 24.10.2026.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Слайд 11. Проверки и передача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Проверки покрывают права доступа, независимость периодов, конец месяца, пересчёт просрочки, валютные суммы и поведение напоминаний при повторных проходах и ошибках. На стенде отдельно проверены HTTPS, реальные сообщения Telegram и сохранение состояний после перезапуска. Результаты и команды зафиксированы в документации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передачи подготовлены исходный код, инструкция запуска, `.env.example` без секретов, условные демонстрационные данные и спецификация API. Дальше покажем обязательный сценарий вживую: от входа администратора до следующего независимого периода.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требований: выданный кейс Invoice Keeper, 18 страниц. Стр. 10–11, 17. Результаты docs/qa.md. 130 тестов выполнены до финальных изменений текстов Telegram, затем 63 focused bot/profile tests. Production-сборка и внешний HTTPS/RBAC/CSRF-прогон повторены. Числа не обозначают нагрузку или экономический эффект.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Слайд 12. Живая демонстрация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Переключиться на приложение. Выполнить семь действий из следующего раздела. Слайд со сценарием оставить как опору, а не замену живому показу.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требований: выданный кейс Invoice Keeper, 18 страниц. Стр. 15, точный порядок семи обязательных действий. Весь путь показывается вживую. Слайд не заменяет демонстрацию. Рекомендованный сценарий и подготовка в speech.pdf.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Слайд 13. Результат и следующий этап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результате есть работающий путь: администратор добавляет расход, система напоминает, пользователь фиксирует оплату, история сохраняется, следующий месяц остаётся самостоятельным.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Следующий этап для внедрения в продукт Aéza — согласовать источник счетов и модель доступа, подключить официальный API биллинга и сопоставить реальные услуги с нашими периодами. Это отдельная интеграционная работа. Готовая основа уже решает обязательную задачу кейса и показывает, как команда будет контролировать регулярные расходы.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требований: выданный кейс Invoice Keeper, 18 страниц. Стр. 11, 17. Файлы README, openapi.json, scripts/package.py, docs. Будущее подключение требует согласования с владельцем биллинга и не показано как готовая функция.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Слайд 14. Справочник 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Приложение к презентации. В основной рассказ не входит. Открывать при вопросе об обязательном контракте: вход, сессия, серии, отдельные периоды, итоги по валютам, управление обычными пользователями, Swagger и OpenAPI. Не зачитывать весь список маршрутов.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требований: выданный кейс Invoice Keeper, 18 страниц. Стр. 12–14, обязательный контракт. {id} обозначает фактические имена path-параметров payment_id/occurrence_id/user_id в реализации. Дополнительные маршруты приведены в project-guide.pdf.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Слайд 15. Открыть проект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Завершить показ слайдом с QR-кодами. Сказать: «Здесь можно открыть веб-модуль и Telegram-бота. Адрес стенда — https://138.124.14.93/, бот — @aezainkeep_bot. Для финансовых данных веб-модуля нужна учётная запись; просмотр в боте разрешён настроенному чату». Во время вопросов оставить этот слайд на экране. Справочник API на слайде 14 открывается при необходимости. Перед выступлением проверить доступность тестового сервера.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QR Telegram предоставлен пользователем, расшифрован в https://t.me/aezainkeep_bot. QR веб-приложения сформирован с прямым адресом https://138.124.14.93/. Оба кода проверяются в растровом финальном слайде. Доступ финансовых данных в боте ограничен настроенным чатом, на сайте требуется вход. Срок выданного VPS ограничен, доступность проверить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69837742443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99164b2f64b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810d6b2ba4e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cd30741154f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ec25dd11343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98c0e94cf4a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B52042-A518-444C-B629-63AD277C42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2364AB-3D35-41BD-9E8F-5FDF7A9939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2EF5A7-8CCB-43F5-8E30-EE174CA103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4EFF7D-1718-4E33-981C-DE3E52662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8F6430-D17B-434D-9813-A0CEF47C27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D0D496-FE75-48DF-9BC4-6A83FC13CB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662C7D-6BD6-4B83-8D14-7A4E928291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06194F0-A140-48DC-8697-DE75F5DA72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7CFFCC-32FC-4F75-BCD8-22513DE60C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0BCE07-9CCD-43B4-9BF3-987B102FA5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5a1c33d31a4eeb" /><Relationship Type="http://schemas.openxmlformats.org/officeDocument/2006/relationships/slideLayout" Target="/ppt/slideLayouts/slideLayout1.xml" Id="R3ca08d483e8e42b6" /><Relationship Type="http://schemas.openxmlformats.org/officeDocument/2006/relationships/slideLayout" Target="/ppt/slideLayouts/slideLayout2.xml" Id="Rf33bd514b38548eb" /><Relationship Type="http://schemas.openxmlformats.org/officeDocument/2006/relationships/slideLayout" Target="/ppt/slideLayouts/slideLayout3.xml" Id="R4f9600f119a24636" /><Relationship Type="http://schemas.openxmlformats.org/officeDocument/2006/relationships/slideLayout" Target="/ppt/slideLayouts/slideLayout4.xml" Id="Rd86f1f5aae134793" /><Relationship Type="http://schemas.openxmlformats.org/officeDocument/2006/relationships/slideLayout" Target="/ppt/slideLayouts/slideLayout5.xml" Id="Rd419ce682677473d" /><Relationship Type="http://schemas.openxmlformats.org/officeDocument/2006/relationships/slideLayout" Target="/ppt/slideLayouts/slideLayout6.xml" Id="Ra1b394e90da549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a08d483e8e42b6"/>
    <p:sldLayoutId xmlns:r="http://schemas.openxmlformats.org/officeDocument/2006/relationships" id="2147483650" r:id="Rf33bd514b38548eb"/>
    <p:sldLayoutId xmlns:r="http://schemas.openxmlformats.org/officeDocument/2006/relationships" id="2147483651" r:id="R4f9600f119a24636"/>
    <p:sldLayoutId xmlns:r="http://schemas.openxmlformats.org/officeDocument/2006/relationships" id="2147483652" r:id="Rd86f1f5aae134793"/>
    <p:sldLayoutId xmlns:r="http://schemas.openxmlformats.org/officeDocument/2006/relationships" id="2147483653" r:id="Rd419ce682677473d"/>
    <p:sldLayoutId xmlns:r="http://schemas.openxmlformats.org/officeDocument/2006/relationships" id="2147483654" r:id="Ra1b394e90da549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c9a7fff924c40" /><Relationship Type="http://schemas.openxmlformats.org/officeDocument/2006/relationships/image" Target="/ppt/media/image.jpeg" Id="Rcfc19b797ed844c6" /><Relationship Type="http://schemas.openxmlformats.org/officeDocument/2006/relationships/notesSlide" Target="/ppt/notesSlides/notesSlide1.xml" Id="R177f99f152d744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d127a2740a4614" /><Relationship Type="http://schemas.openxmlformats.org/officeDocument/2006/relationships/image" Target="/ppt/media/image2.jpeg" Id="R4f8a124fd2e04122" /><Relationship Type="http://schemas.openxmlformats.org/officeDocument/2006/relationships/notesSlide" Target="/ppt/notesSlides/notesSlide2.xml" Id="R5be905ff7b3442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112939459947d5" /><Relationship Type="http://schemas.openxmlformats.org/officeDocument/2006/relationships/notesSlide" Target="/ppt/notesSlides/notesSlide3.xml" Id="R29dd8c679fb54e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8f5ee930c3484c" /><Relationship Type="http://schemas.openxmlformats.org/officeDocument/2006/relationships/notesSlide" Target="/ppt/notesSlides/notesSlide4.xml" Id="Rf30c799a71da49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77c47d9d9242a9" /><Relationship Type="http://schemas.openxmlformats.org/officeDocument/2006/relationships/notesSlide" Target="/ppt/notesSlides/notesSlide5.xml" Id="Rf78eb584ccf04f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a4879cb2094daa" /><Relationship Type="http://schemas.openxmlformats.org/officeDocument/2006/relationships/notesSlide" Target="/ppt/notesSlides/notesSlide6.xml" Id="R44514cf1e2b641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9c17c5771046b3" /><Relationship Type="http://schemas.openxmlformats.org/officeDocument/2006/relationships/notesSlide" Target="/ppt/notesSlides/notesSlide7.xml" Id="R2e6928fa67c546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7216ae03d443aa" /><Relationship Type="http://schemas.openxmlformats.org/officeDocument/2006/relationships/notesSlide" Target="/ppt/notesSlides/notesSlide8.xml" Id="Ra71e39e423f64d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6bd2841ddb4ee1" /><Relationship Type="http://schemas.openxmlformats.org/officeDocument/2006/relationships/notesSlide" Target="/ppt/notesSlides/notesSlide9.xml" Id="R481fb6c0d97a41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692a6e16f4daf" /><Relationship Type="http://schemas.openxmlformats.org/officeDocument/2006/relationships/image" Target="/ppt/media/image3.jpeg" Id="R9a71174587f6452d" /><Relationship Type="http://schemas.openxmlformats.org/officeDocument/2006/relationships/notesSlide" Target="/ppt/notesSlides/notesSlide10.xml" Id="Re5cfe61dc8664f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3010253f1149de" /><Relationship Type="http://schemas.openxmlformats.org/officeDocument/2006/relationships/notesSlide" Target="/ppt/notesSlides/notesSlide11.xml" Id="Rda3a1b8fc51e47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48d131b9934129" /><Relationship Type="http://schemas.openxmlformats.org/officeDocument/2006/relationships/notesSlide" Target="/ppt/notesSlides/notesSlide12.xml" Id="Rfc51c62d509944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33bfd05b1c4726" /><Relationship Type="http://schemas.openxmlformats.org/officeDocument/2006/relationships/notesSlide" Target="/ppt/notesSlides/notesSlide13.xml" Id="R89ccea6cbad846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96a0e41e54df3" /><Relationship Type="http://schemas.openxmlformats.org/officeDocument/2006/relationships/notesSlide" Target="/ppt/notesSlides/notesSlide14.xml" Id="Ra638384475f742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bf0a9beba34d2b" /><Relationship Type="http://schemas.openxmlformats.org/officeDocument/2006/relationships/image" Target="/ppt/media/image.png" Id="R6e70e61b80724dfa" /><Relationship Type="http://schemas.openxmlformats.org/officeDocument/2006/relationships/image" Target="/ppt/media/image2.png" Id="R808d1124d077414b" /><Relationship Type="http://schemas.openxmlformats.org/officeDocument/2006/relationships/notesSlide" Target="/ppt/notesSlides/notesSlide15.xml" Id="R73507f9f0a534f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DE5E1-1F33-4B11-B0DD-503B7B06D4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19b797ed844c6"/>
          <a:stretch xmlns:a="http://schemas.openxmlformats.org/drawingml/2006/main"/>
        </p:blipFill>
        <p:spPr>
          <a:xfrm xmlns:a="http://schemas.openxmlformats.org/drawingml/2006/main">
            <a:off x="571500" y="45720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B4305-667B-49E4-B592-76D57182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3817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Aéza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9EC42-5E0F-4485-8CB4-13957A31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0953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8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Услуги</a:t>
            </a:r>
          </a:p>
          <a:p xmlns:a="http://schemas.openxmlformats.org/drawingml/2006/main">
            <a:pPr>
              <a:defRPr sz="585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и продления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13B4A-7DFC-4D69-842E-105A5521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895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6B1AD"/>
                </a:solidFill>
                <a:latin typeface="Arial"/>
                <a:ea typeface="Arial"/>
                <a:cs typeface="Arial"/>
              </a:rPr>
              <a:t>Учёт регулярных расходов</a:t>
            </a:r>
          </a:p>
          <a:p xmlns:a="http://schemas.openxmlformats.org/drawingml/2006/main">
            <a:pPr>
              <a:defRPr sz="24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6B1AD"/>
                </a:solidFill>
                <a:latin typeface="Arial"/>
                <a:ea typeface="Arial"/>
                <a:cs typeface="Arial"/>
              </a:rPr>
              <a:t>и напоминания в Telegram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1BEE0-8840-4725-ACE8-BD0B7163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Решение кейса Invoice Keeper</a:t>
            </a:r>
          </a:p>
        </p:txBody>
      </p:sp>
    </p:spTree>
    <p:extLst>
      <p:ext uri="{BB962C8B-B14F-4D97-AF65-F5344CB8AC3E}">
        <p14:creationId xmlns:p14="http://schemas.microsoft.com/office/powerpoint/2010/main" val="19779327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695F6-BF72-469F-B0E8-F3B847A4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Что нужно оплатить в этом месяце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38787-DB47-4BD8-AD70-B5CA892A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6CC6F-0CB3-4C68-B5DA-BD21D952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419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У каждой услуги свой срок.</a:t>
            </a:r>
          </a:p>
          <a:p xmlns:a="http://schemas.openxmlformats.org/drawingml/2006/main">
            <a: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У каждой оплаты свой статус.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64C90-60F1-483F-B437-5029B6D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В общем списке видно ближайший расход и месяц, за который уже отмечена оплата.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47262-8720-41CC-A999-B650A8020B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a124fd2e04122"/>
          <a:stretch xmlns:a="http://schemas.openxmlformats.org/drawingml/2006/main"/>
        </p:blipFill>
        <p:spPr>
          <a:xfrm xmlns:a="http://schemas.openxmlformats.org/drawingml/2006/main">
            <a:off x="5048250" y="1774681"/>
            <a:ext cx="6572250" cy="369916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CCC98-E569-4116-A778-805F1B44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838825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B1AD"/>
                </a:solidFill>
                <a:latin typeface="Arial"/>
                <a:ea typeface="Arial"/>
                <a:cs typeface="Arial"/>
              </a:rPr>
              <a:t>Работающая версия с условными демоданными</a:t>
            </a:r>
          </a:p>
        </p:txBody>
      </p:sp>
    </p:spTree>
    <p:extLst>
      <p:ext uri="{BB962C8B-B14F-4D97-AF65-F5344CB8AC3E}">
        <p14:creationId xmlns:p14="http://schemas.microsoft.com/office/powerpoint/2010/main" val="7330250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A272F-1D42-48C6-828E-EA0CB1C4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Сейчас данные вводятся вручную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80635-1F23-45F2-AA9D-DBFA7DED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D194F-DB82-4865-AF61-6D382BFD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В модуле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0F06E-346B-4E38-850F-6BB870E5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7647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Названия услуг, суммы и сроки</a:t>
            </a:r>
          </a:p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Отметки и фактические даты оплаты</a:t>
            </a:r>
          </a:p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История и напоминания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623C1-C24F-4804-9D21-ADA4515D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В официальном кабинете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E49C2-B264-4A78-A0ED-8ACCB06F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7647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Реальная оплата услуг</a:t>
            </a:r>
          </a:p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Баланс и счета провайдера</a:t>
            </a:r>
          </a:p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Управление инфраструктурой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D13B8-7991-42DB-8458-AC252883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81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32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A4F6F-9046-419E-9D51-BA546FC5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Интеграция с биллингом и единый вход пока не подключены.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15584289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4F9BD-29A1-4265-A21F-642418CB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Кто может менять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AA267-F8D9-4990-9052-C403CA2B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6D8A2-F119-4F04-834D-1A64828DEA2C}"/>
              </a:ext>
            </a:extLst>
          </p:cNvPr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2762250"/>
                <a:gridCol w="27622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97C35"/>
                          </a:solidFill>
                          <a:latin typeface="Arial"/>
                          <a:ea typeface="Arial"/>
                          <a:cs typeface="Arial"/>
                        </a:rPr>
                        <a:t>Действие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T w="9525">
                      <a:solidFill>
                        <a:srgbClr val="39332F"/>
                      </a:solidFill>
                      <a:prstDash val="solid"/>
                    </a:lnT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211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97C35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Администратор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T w="9525">
                      <a:solidFill>
                        <a:srgbClr val="39332F"/>
                      </a:solidFill>
                      <a:prstDash val="solid"/>
                    </a:lnT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211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97C35"/>
                          </a:solidFill>
                          <a:latin typeface="Arial"/>
                          <a:ea typeface="Arial"/>
                          <a:cs typeface="Arial"/>
                        </a:rPr>
                        <a:t>Пользователь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T w="9525">
                      <a:solidFill>
                        <a:srgbClr val="39332F"/>
                      </a:solidFill>
                      <a:prstDash val="solid"/>
                    </a:lnT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211B1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Список, статус и дата оплаты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Доступно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Доступно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Серии и будущие условия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Доступно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Запрещено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Обычные пользователи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Доступно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Запрещено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Учётная запись администратора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Через окружение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Запрещено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7C19C-3F1B-41A6-A1A5-99FAD6F2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B1AD"/>
                </a:solidFill>
                <a:latin typeface="Arial"/>
                <a:ea typeface="Arial"/>
                <a:cs typeface="Arial"/>
              </a:rPr>
              <a:t>Прямой вызов административного API от пользователя получает 403.</a:t>
            </a:r>
          </a:p>
        </p:txBody>
      </p:sp>
    </p:spTree>
    <p:extLst>
      <p:ext uri="{BB962C8B-B14F-4D97-AF65-F5344CB8AC3E}">
        <p14:creationId xmlns:p14="http://schemas.microsoft.com/office/powerpoint/2010/main" val="742702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73D41-AA20-482C-B611-C4E25DE2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Октябрьская оплата не закрывает ноябрь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DCAA3-40E3-42CC-96D2-E58F0E3F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AC92D-B299-43EE-BE3A-468130D6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B1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83EB7-978E-4568-A03E-6B2E1C41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Серия VPS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27EFC-F6BF-4BB2-9F79-95612D7B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33575"/>
            <a:ext cx="690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Название, сумма, валюта, исходное число месяца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D2395-1612-4D1F-8932-2CAC3906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Октябрь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744F9-1E3A-41AB-9279-1353873A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Оплачен 24 октября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521BC-DBC0-48C5-949A-DD173565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004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Ноябрь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8AD0D-3C1F-4DD6-984B-F905CF9A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195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B1AD"/>
                </a:solidFill>
                <a:latin typeface="Arial"/>
                <a:ea typeface="Arial"/>
                <a:cs typeface="Arial"/>
              </a:rPr>
              <a:t>Собственный срок</a:t>
            </a:r>
          </a:p>
          <a:p xmlns:a="http://schemas.openxmlformats.org/drawingml/2006/main">
            <a: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B1AD"/>
                </a:solidFill>
                <a:latin typeface="Arial"/>
                <a:ea typeface="Arial"/>
                <a:cs typeface="Arial"/>
              </a:rPr>
              <a:t>и отдельный статус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C2735-E8F1-4567-8A45-2AD5B7AC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04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Декабрь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2A569-C30B-4443-8D23-CAAFBED6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195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B1AD"/>
                </a:solidFill>
                <a:latin typeface="Arial"/>
                <a:ea typeface="Arial"/>
                <a:cs typeface="Arial"/>
              </a:rPr>
              <a:t>Собственный срок</a:t>
            </a:r>
          </a:p>
          <a:p xmlns:a="http://schemas.openxmlformats.org/drawingml/2006/main">
            <a:pPr>
              <a:defRPr sz="202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B1AD"/>
                </a:solidFill>
                <a:latin typeface="Arial"/>
                <a:ea typeface="Arial"/>
                <a:cs typeface="Arial"/>
              </a:rPr>
              <a:t>и отдельный статус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1D3A5-1F4E-42CF-92E6-5C635E7A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Оплата октября сохраняется в истории и не закрывает ноябрь.</a:t>
            </a:r>
          </a:p>
        </p:txBody>
      </p:sp>
    </p:spTree>
    <p:extLst>
      <p:ext uri="{BB962C8B-B14F-4D97-AF65-F5344CB8AC3E}">
        <p14:creationId xmlns:p14="http://schemas.microsoft.com/office/powerpoint/2010/main" val="1162618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71723-5A01-42D9-896F-7B6A53B6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Что происходит с 31-м числом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C2BC4-7D7D-4E86-80EE-AAC8DAEF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7D6DC-F11A-44A6-82E7-8E24CF33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31 января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7B74C-915A-4710-815F-3E230E33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478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28 или 29 февраля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48364-6125-407E-86AA-33FCB15F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31 марта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3E4A3-D5B2-4445-95D5-A50E3986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Следующий месяц использует исходное число.</a:t>
            </a:r>
          </a:p>
          <a:p xmlns:a="http://schemas.openxmlformats.org/drawingml/2006/main">
            <a:pPr>
              <a:defRPr sz="24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День срока ещё не считается просрочкой.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9949E-C3B1-4686-896C-2CE9F22F608D}"/>
              </a:ext>
            </a:extLst>
          </p:cNvPr>
          <p:cNvGraphicFramePr/>
          <p:nvPr/>
        </p:nvGraphicFramePr>
        <p:xfrm>
          <a:off xmlns:a="http://schemas.openxmlformats.org/drawingml/2006/main" x="571500" y="4276725"/>
          <a:ext xmlns:a="http://schemas.openxmlformats.org/drawingml/2006/main" cx="11049000" cy="1390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6175"/>
                <a:gridCol w="3676650"/>
                <a:gridCol w="3686175"/>
              </a:tblGrid>
              <a:tr h="6953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E97C35"/>
                          </a:solidFill>
                          <a:latin typeface="Arial"/>
                          <a:ea typeface="Arial"/>
                          <a:cs typeface="Arial"/>
                        </a:rPr>
                        <a:t>RUB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T w="9525">
                      <a:solidFill>
                        <a:srgbClr val="39332F"/>
                      </a:solidFill>
                      <a:prstDash val="solid"/>
                    </a:lnT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211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E97C35"/>
                          </a:solidFill>
                          <a:latin typeface="Arial"/>
                          <a:ea typeface="Arial"/>
                          <a:cs typeface="Arial"/>
                        </a:rPr>
                        <a:t>USD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T w="9525">
                      <a:solidFill>
                        <a:srgbClr val="39332F"/>
                      </a:solidFill>
                      <a:prstDash val="solid"/>
                    </a:lnT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211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E97C35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T w="9525">
                      <a:solidFill>
                        <a:srgbClr val="39332F"/>
                      </a:solidFill>
                      <a:prstDash val="solid"/>
                    </a:lnT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211B1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Отдельный итог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Отдельный итог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Отдельный итог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35709-F130-45AF-89AB-ADE885E0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6B1AD"/>
                </a:solidFill>
                <a:latin typeface="Arial"/>
                <a:ea typeface="Arial"/>
                <a:cs typeface="Arial"/>
              </a:rPr>
              <a:t>Суммы хранятся целыми минимальными единицами.</a:t>
            </a:r>
          </a:p>
        </p:txBody>
      </p:sp>
    </p:spTree>
    <p:extLst>
      <p:ext uri="{BB962C8B-B14F-4D97-AF65-F5344CB8AC3E}">
        <p14:creationId xmlns:p14="http://schemas.microsoft.com/office/powerpoint/2010/main" val="20090261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DBF32-5381-47DF-BAF6-B1253B8B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Напоминание приходит за три дня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1964C-DB98-4CB7-A12A-A7161E7E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1927F-3245-45DC-9C60-B8BD9F72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За 3 дня до срока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D496F-DC63-4C6C-815B-94E4B261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Название услуги</a:t>
            </a:r>
          </a:p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Сумма и валюта</a:t>
            </a:r>
          </a:p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Дата оплаты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7A79C-12BE-46C2-9D8C-7460CCD9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2402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Перед отправкой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A1A40-DCEF-45E7-A98C-0AAC1AD2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Период ещё не оплачен</a:t>
            </a:r>
          </a:p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Серия остаётся активной</a:t>
            </a:r>
          </a:p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Доставку ещё не подтвердили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BCCCF-BEF6-4B94-86EE-BBCF5931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32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2F150-00E6-43E0-B2D1-1621B979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Подтверждённая доставка не повторяется после перезапуска.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C669D-742C-474C-9317-3A768139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6B1AD"/>
                </a:solidFill>
                <a:latin typeface="Arial"/>
                <a:ea typeface="Arial"/>
                <a:cs typeface="Arial"/>
              </a:rPr>
              <a:t>Потерянный ответ Telegram сохраняем как unknown и автоматически не повторяем.</a:t>
            </a:r>
          </a:p>
        </p:txBody>
      </p:sp>
    </p:spTree>
    <p:extLst>
      <p:ext uri="{BB962C8B-B14F-4D97-AF65-F5344CB8AC3E}">
        <p14:creationId xmlns:p14="http://schemas.microsoft.com/office/powerpoint/2010/main" val="1867590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9C421-13DC-49A4-8E55-1B17A651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Как устроено приложение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52D4A-ECC5-4A4C-808D-36180215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67DEA-7F78-4ECB-90F3-BB00549E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B1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09690-C7E4-4ECB-B33E-23B1E3ED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90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React + TypeScript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D68F5-D46F-4B44-8D36-37205067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Интерфейс, сборка Vite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1D08C-E96C-4212-9E1C-8708BC82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B1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AF260-1205-4702-A43E-23086F01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57375"/>
            <a:ext cx="2990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Python + FastAPI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345EC-6E23-4BF0-8A70-6667A376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431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REST API и права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06A85-1EA3-4C60-AB88-C841F656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B1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8D23E-B8A5-4B23-9F53-786552BB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57375"/>
            <a:ext cx="2990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9BFBC-593A-4E9E-BE5C-A3717E77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Периоды и состояния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AA55F-A3E8-4B4D-8902-F79DCC49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90950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B1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99E26-6B60-435F-BE6A-852D6926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81450"/>
            <a:ext cx="2990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Worker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E9D97-4DED-429D-8C82-2AF50CBC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467225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Проверяет сроки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2062B-9FC9-4F2B-B773-D0099BF2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B1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91C4E-74D4-407C-8F7B-AA492EC1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81450"/>
            <a:ext cx="2990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Telegram poller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A1B73-9E5E-4CA1-BE1E-08ADB09A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67225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Принимает команды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3F8FA-12A6-455C-84E3-41886623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0275"/>
            <a:ext cx="52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32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247A9-F392-4EEE-B0F8-4797E4EE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00275"/>
            <a:ext cx="52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32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22F4D-B156-41D5-A8B8-E75F9A23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762250"/>
            <a:ext cx="95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32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D796B7-9524-4F0E-BD28-F308CD1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3800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32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B5C652-BC2C-4249-B7F4-CAB6C8B0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32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011A26-A23E-44B3-B89E-67E4923A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6B1AD"/>
                </a:solidFill>
                <a:latin typeface="Arial"/>
                <a:ea typeface="Arial"/>
                <a:cs typeface="Arial"/>
              </a:rPr>
              <a:t>Один хост с локальной базой. HTTPS принимает nginx, процессы запускает systemd.</a:t>
            </a:r>
          </a:p>
        </p:txBody>
      </p:sp>
    </p:spTree>
    <p:extLst>
      <p:ext uri="{BB962C8B-B14F-4D97-AF65-F5344CB8AC3E}">
        <p14:creationId xmlns:p14="http://schemas.microsoft.com/office/powerpoint/2010/main" val="16323248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51547-8F11-4C2A-8B25-A623C8D5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Что делает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0BCA2-CA00-4D9B-9AEF-4EC9AF21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C249A-9D45-41A5-8B72-F5BDB0ACC07E}"/>
              </a:ext>
            </a:extLst>
          </p:cNvPr>
          <p:cNvGraphicFramePr/>
          <p:nvPr/>
        </p:nvGraphicFramePr>
        <p:xfrm>
          <a:off xmlns:a="http://schemas.openxmlformats.org/drawingml/2006/main" x="571500" y="1685925"/>
          <a:ext xmlns:a="http://schemas.openxmlformats.org/drawingml/2006/main" cx="110490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19875"/>
                <a:gridCol w="442912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97C35"/>
                          </a:solidFill>
                          <a:latin typeface="Arial"/>
                          <a:ea typeface="Arial"/>
                          <a:cs typeface="Arial"/>
                        </a:rPr>
                        <a:t>Запрос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T w="9525">
                      <a:solidFill>
                        <a:srgbClr val="39332F"/>
                      </a:solidFill>
                      <a:prstDash val="solid"/>
                    </a:lnT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211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97C35"/>
                          </a:solidFill>
                          <a:latin typeface="Arial"/>
                          <a:ea typeface="Arial"/>
                          <a:cs typeface="Arial"/>
                        </a:rPr>
                        <a:t>Что делает сервер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T w="9525">
                      <a:solidFill>
                        <a:srgbClr val="39332F"/>
                      </a:solidFill>
                      <a:prstDash val="solid"/>
                    </a:lnT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211B1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POST /api/v1/auth/login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Проверяет пароль, создаёт сессию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GET /api/v1/payment-occurrences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Возвращает месячные периоды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PATCH /api/v1/payment-occurrences/{id}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Меняет статус или дату одной оплаты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E31DF-EFEE-4614-A234-A80EACB0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91075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Сессия и роль проверяются на сервере.</a:t>
            </a:r>
          </a:p>
          <a:p xmlns:a="http://schemas.openxmlformats.org/drawingml/2006/main">
            <a: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Изменения требуют CSRF-токен и допустимый Origin.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7E438-6374-49BA-B244-86B9F15C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OpenAPI в поставке. Swagger доступен после входа на /api/v1/docs.</a:t>
            </a:r>
          </a:p>
        </p:txBody>
      </p:sp>
    </p:spTree>
    <p:extLst>
      <p:ext uri="{BB962C8B-B14F-4D97-AF65-F5344CB8AC3E}">
        <p14:creationId xmlns:p14="http://schemas.microsoft.com/office/powerpoint/2010/main" val="1696893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D076E-5B4C-4410-BFBA-6CB098F0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Календарь и работа с телефона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0D2E5-9188-4BDD-95E4-EBE43D40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4DCC2-C091-41F4-9D23-095B4EB9EF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1174587f6452d"/>
          <a:stretch xmlns:a="http://schemas.openxmlformats.org/drawingml/2006/main"/>
        </p:blipFill>
        <p:spPr>
          <a:xfrm xmlns:a="http://schemas.openxmlformats.org/drawingml/2006/main">
            <a:off x="640415" y="1476375"/>
            <a:ext cx="2243419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FC6EF-911F-440B-BE1F-726ABF5D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43075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Календарь вместо поиска по всей истории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00D2B-AC2A-4FC3-A4FD-645A93B5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05125"/>
            <a:ext cx="752475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Поиск, фильтры и CSV</a:t>
            </a:r>
          </a:p>
          <a:p xmlns:a="http://schemas.openxmlformats.org/drawingml/2006/main">
            <a: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Журнал действий и доставок</a:t>
            </a:r>
          </a:p>
          <a:p xmlns:a="http://schemas.openxmlformats.org/drawingml/2006/main">
            <a: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Изменение условий со следующего месяца</a:t>
            </a:r>
          </a:p>
          <a:p xmlns:a="http://schemas.openxmlformats.org/drawingml/2006/main">
            <a: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Telegram-меню с просмотром продлений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AD1EB-A9D9-4780-AA7C-76F40018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768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6B1AD"/>
                </a:solidFill>
                <a:latin typeface="Arial"/>
                <a:ea typeface="Arial"/>
                <a:cs typeface="Arial"/>
              </a:rPr>
              <a:t>Анимации учитывают настройку уменьшения движения.</a:t>
            </a:r>
          </a:p>
        </p:txBody>
      </p:sp>
    </p:spTree>
    <p:extLst>
      <p:ext uri="{BB962C8B-B14F-4D97-AF65-F5344CB8AC3E}">
        <p14:creationId xmlns:p14="http://schemas.microsoft.com/office/powerpoint/2010/main" val="7910606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902B7-7C0C-4D6E-8B28-9057DE0C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Что проверили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E5E23-C4AB-4D9C-868A-13692A27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E46C2-6A77-456E-8B17-E674866AA707}"/>
              </a:ext>
            </a:extLst>
          </p:cNvPr>
          <p:cNvGraphicFramePr/>
          <p:nvPr/>
        </p:nvGraphicFramePr>
        <p:xfrm>
          <a:off xmlns:a="http://schemas.openxmlformats.org/drawingml/2006/main" x="571500" y="1590675"/>
          <a:ext xmlns:a="http://schemas.openxmlformats.org/drawingml/2006/main" cx="11049000" cy="3400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6000750"/>
              </a:tblGrid>
              <a:tr h="68008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E97C35"/>
                          </a:solidFill>
                          <a:latin typeface="Arial"/>
                          <a:ea typeface="Arial"/>
                          <a:cs typeface="Arial"/>
                        </a:rPr>
                        <a:t>Требование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T w="9525">
                      <a:solidFill>
                        <a:srgbClr val="39332F"/>
                      </a:solidFill>
                      <a:prstDash val="solid"/>
                    </a:lnT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211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E97C35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Подтверждение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T w="9525">
                      <a:solidFill>
                        <a:srgbClr val="39332F"/>
                      </a:solidFill>
                      <a:prstDash val="solid"/>
                    </a:lnT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211B17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Роли и закрытые данные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прямых API-запросов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Периоды, даты и валюты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Тесты якорного дня, истории и сумм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Напоминания после перезапуска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Сохранённые состояния outbox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Запуск и передача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README, seed, .env.example, OpenAPI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BECB1-9186-40CE-8966-8761CA47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1104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130 тестов на сервере. После оформления бота прошли 63 целевые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9834563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839AE-998A-4633-AE7A-098B8CC6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От нового платежа до следующего месяца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F7ACC-FE21-44BD-966D-DCD6A261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D3273-78A0-43D5-BC8E-F571321C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71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31261-54F7-405F-85F3-D88A9795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10144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Вход администратором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241F4-2225-4C37-B0A4-0B695AC3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71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E22F4-1D29-4784-B4CF-C5A15C0D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90750"/>
            <a:ext cx="10144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Создание регулярного платежа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6DF52-39DF-4415-8285-7F462097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71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CCA3F-7DD0-4404-9EBE-43A7ADC7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81300"/>
            <a:ext cx="10144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Напоминание в Telegram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AC35B-2DB2-4519-879E-35B15D6C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71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A8165-3CA0-488F-936F-49B5C83E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71850"/>
            <a:ext cx="10144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Вход пользователем и отметка оплаты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EA0A2-AB18-4605-871F-475FEC4D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71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A0ADD-0324-4AE3-A4BB-35B5A280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10144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Просроченный платёж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7441C-C7AF-43B7-A0B7-EB9FAF4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71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2A773-C3C9-4D6C-A7CB-7465C959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52950"/>
            <a:ext cx="10144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Исправление фактической даты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FFDD9-B0DB-480F-940E-CB9C6508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71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781DD-450F-4D4A-88E0-4FEE8A05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43500"/>
            <a:ext cx="10144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Следующий период с отдельным статусом</a:t>
            </a:r>
          </a:p>
        </p:txBody>
      </p:sp>
    </p:spTree>
    <p:extLst>
      <p:ext uri="{BB962C8B-B14F-4D97-AF65-F5344CB8AC3E}">
        <p14:creationId xmlns:p14="http://schemas.microsoft.com/office/powerpoint/2010/main" val="14026965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01533-ED49-47B1-9DF8-3075EA2B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Что готово и что подключить дальше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02FCA-BA6B-477E-A4F5-ABD72770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69236-B817-4F57-BAE8-8E70AB7B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Передаём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90DB1-CEA1-4CBB-9931-32A956A2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Исходный код и инструкцию запуска</a:t>
            </a:r>
          </a:p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Тестовые данные без секретов</a:t>
            </a:r>
          </a:p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OpenAPI и рабочую документацию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0367F-FC9D-4571-B115-28A9E5E8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Следующий этап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52828-2852-43F8-83E7-35DF7405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1932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Согласовать доступ к биллингу</a:t>
            </a:r>
          </a:p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Сопоставить счета и услуги</a:t>
            </a:r>
          </a:p>
          <a:p xmlns:a="http://schemas.openxmlformats.org/drawingml/2006/main">
            <a:pPr>
              <a:defRPr sz="210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Подключить импорт и единый вход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830B0-9E37-4F21-9863-4F67B676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577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32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B2629-E214-462C-AD6D-33C23ED2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33975"/>
            <a:ext cx="10953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Учёт, роли, периоды и напоминания уже работают на тестовом сервере.</a:t>
            </a:r>
          </a:p>
        </p:txBody>
      </p:sp>
    </p:spTree>
    <p:extLst>
      <p:ext uri="{BB962C8B-B14F-4D97-AF65-F5344CB8AC3E}">
        <p14:creationId xmlns:p14="http://schemas.microsoft.com/office/powerpoint/2010/main" val="2623694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78C8B-4A9C-46DE-8C17-260EE4ED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Маршруты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02718-122D-49F0-82F6-68590262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07E9F-996B-43B1-AF26-F05ECE49941E}"/>
              </a:ext>
            </a:extLst>
          </p:cNvPr>
          <p:cNvGraphicFramePr/>
          <p:nvPr/>
        </p:nvGraphicFramePr>
        <p:xfrm>
          <a:off xmlns:a="http://schemas.openxmlformats.org/drawingml/2006/main" x="571500" y="1562100"/>
          <a:ext xmlns:a="http://schemas.openxmlformats.org/drawingml/2006/main" cx="53340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286250"/>
              </a:tblGrid>
              <a:tr h="457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E97C35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T w="9525">
                      <a:solidFill>
                        <a:srgbClr val="39332F"/>
                      </a:solidFill>
                      <a:prstDash val="solid"/>
                    </a:lnT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211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E97C35"/>
                          </a:solidFill>
                          <a:latin typeface="Arial"/>
                          <a:ea typeface="Arial"/>
                          <a:cs typeface="Arial"/>
                        </a:rPr>
                        <a:t>Путь после /api/v1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T w="9525">
                      <a:solidFill>
                        <a:srgbClr val="39332F"/>
                      </a:solidFill>
                      <a:prstDash val="solid"/>
                    </a:lnT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211B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/auth/login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/auth/me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/auth/logout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/recurring-payments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/recurring-payments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DELETE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/recurring-payments/{id}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C54E5-A92A-4C8B-9795-FB8736787302}"/>
              </a:ext>
            </a:extLst>
          </p:cNvPr>
          <p:cNvGraphicFramePr/>
          <p:nvPr/>
        </p:nvGraphicFramePr>
        <p:xfrm>
          <a:off xmlns:a="http://schemas.openxmlformats.org/drawingml/2006/main" x="6286500" y="1562100"/>
          <a:ext xmlns:a="http://schemas.openxmlformats.org/drawingml/2006/main" cx="5334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286250"/>
              </a:tblGrid>
              <a:tr h="457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E97C35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T w="9525">
                      <a:solidFill>
                        <a:srgbClr val="39332F"/>
                      </a:solidFill>
                      <a:prstDash val="solid"/>
                    </a:lnT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211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E97C35"/>
                          </a:solidFill>
                          <a:latin typeface="Arial"/>
                          <a:ea typeface="Arial"/>
                          <a:cs typeface="Arial"/>
                        </a:rPr>
                        <a:t>Путь после /api/v1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T w="9525">
                      <a:solidFill>
                        <a:srgbClr val="39332F"/>
                      </a:solidFill>
                      <a:prstDash val="solid"/>
                    </a:lnT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211B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/payment-occurrences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/payment-occurrences/{id}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PATCH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/payment-occurrences/{id}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/payments/summary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/users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/users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PATCH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/users/{id}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DELETE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/users/{id}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39332F"/>
                      </a:solidFill>
                      <a:prstDash val="solid"/>
                    </a:lnL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4F4F4"/>
                          </a:solidFill>
                          <a:latin typeface="Arial"/>
                          <a:ea typeface="Arial"/>
                          <a:cs typeface="Arial"/>
                        </a:rPr>
                        <a:t>/docs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39332F"/>
                      </a:solidFill>
                      <a:prstDash val="solid"/>
                    </a:lnR>
                    <a:lnB w="9525">
                      <a:solidFill>
                        <a:srgbClr val="39332F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EB31B-FA6D-4A3B-A1D9-A18DFFBB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01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OpenAPI: openapi.json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11ACF-DC11-43B9-A513-0EC80C17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59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6B1A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B1AD"/>
                </a:solidFill>
                <a:latin typeface="Arial"/>
                <a:ea typeface="Arial"/>
                <a:cs typeface="Arial"/>
              </a:rPr>
              <a:t>Swagger: /api/v1/docs</a:t>
            </a:r>
          </a:p>
        </p:txBody>
      </p:sp>
    </p:spTree>
    <p:extLst>
      <p:ext uri="{BB962C8B-B14F-4D97-AF65-F5344CB8AC3E}">
        <p14:creationId xmlns:p14="http://schemas.microsoft.com/office/powerpoint/2010/main" val="5651074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DDBC7-ED9A-4549-A2F4-AC04E203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4F4"/>
                </a:solidFill>
                <a:latin typeface="Arial"/>
                <a:ea typeface="Arial"/>
                <a:cs typeface="Arial"/>
              </a:rPr>
              <a:t>Бот и веб-приложение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17490-33C6-4ED7-8BE9-69DBD164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97C3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A0C6A-E9CB-40A7-8FF6-4A53A035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481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Telegram-бот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E9F03-93F9-4168-8732-301C85EB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81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E97C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97C35"/>
                </a:solidFill>
                <a:latin typeface="Arial"/>
                <a:ea typeface="Arial"/>
                <a:cs typeface="Arial"/>
              </a:rPr>
              <a:t>Веб-приложение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2C8DB-2025-4130-A557-34BDFACE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DE2F4-14FB-4892-A120-F775E8C5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14575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72F4E-7B12-48EF-9866-FE2B2C189E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0e61b80724dfa"/>
          <a:stretch xmlns:a="http://schemas.openxmlformats.org/drawingml/2006/main"/>
        </p:blipFill>
        <p:spPr>
          <a:xfrm xmlns:a="http://schemas.openxmlformats.org/drawingml/2006/main">
            <a:off x="1057275" y="2562225"/>
            <a:ext cx="2743200" cy="27432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91509-4EDA-4B10-A968-0F887E96D8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d1124d077414b"/>
          <a:stretch xmlns:a="http://schemas.openxmlformats.org/drawingml/2006/main"/>
        </p:blipFill>
        <p:spPr>
          <a:xfrm xmlns:a="http://schemas.openxmlformats.org/drawingml/2006/main">
            <a:off x="6667500" y="24098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4FB8B-F475-4D46-9BA3-118FC490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10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@aezainkeep_bot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77F8E-24BC-4209-BF67-4F61765E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102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https://138.124.14.93/</a:t>
            </a:r>
          </a:p>
        </p:txBody>
      </p:sp>
    </p:spTree>
    <p:extLst>
      <p:ext uri="{BB962C8B-B14F-4D97-AF65-F5344CB8AC3E}">
        <p14:creationId xmlns:p14="http://schemas.microsoft.com/office/powerpoint/2010/main" val="565113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2026-10-24T14:47:12.3210000Z</dcterms:created>
  <dcterms:modified xsi:type="dcterms:W3CDTF">2026-10-24T14:47:12.3210000Z</dcterms:modified>
</coreProperties>
</file>