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324cb6f1874a43" /><Relationship Type="http://schemas.openxmlformats.org/officeDocument/2006/relationships/extended-properties" Target="/docProps/app.xml" Id="R0f2169c64e0c4190" /><Relationship Type="http://schemas.openxmlformats.org/officeDocument/2006/relationships/officeDocument" Target="/ppt/presentation.xml" Id="Rbe7fd1802af64d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0ac45c9d694adc"/>
  </p:sldMasterIdLst>
  <p:notesMasterIdLst>
    <p:notesMasterId xmlns:r="http://schemas.openxmlformats.org/officeDocument/2006/relationships" r:id="Raa701674ec894b05"/>
  </p:notesMasterIdLst>
  <p:sldIdLst>
    <p:sldId xmlns:r="http://schemas.openxmlformats.org/officeDocument/2006/relationships" id="256" r:id="R1ee9d2f4546b4958"/>
    <p:sldId xmlns:r="http://schemas.openxmlformats.org/officeDocument/2006/relationships" id="257" r:id="R5435d5e1986a45c4"/>
    <p:sldId xmlns:r="http://schemas.openxmlformats.org/officeDocument/2006/relationships" id="258" r:id="Rf339d5a4755b4150"/>
    <p:sldId xmlns:r="http://schemas.openxmlformats.org/officeDocument/2006/relationships" id="259" r:id="Rf2fbc6b674244cee"/>
    <p:sldId xmlns:r="http://schemas.openxmlformats.org/officeDocument/2006/relationships" id="260" r:id="R826aeddcbe9f4fd9"/>
    <p:sldId xmlns:r="http://schemas.openxmlformats.org/officeDocument/2006/relationships" id="261" r:id="R21b8d9b419994666"/>
    <p:sldId xmlns:r="http://schemas.openxmlformats.org/officeDocument/2006/relationships" id="262" r:id="R0752633d34b74dd0"/>
    <p:sldId xmlns:r="http://schemas.openxmlformats.org/officeDocument/2006/relationships" id="263" r:id="R359b1c9d157c4ed5"/>
    <p:sldId xmlns:r="http://schemas.openxmlformats.org/officeDocument/2006/relationships" id="264" r:id="Raf89a298a84d4c83"/>
    <p:sldId xmlns:r="http://schemas.openxmlformats.org/officeDocument/2006/relationships" id="265" r:id="R48d946cc12d04475"/>
    <p:sldId xmlns:r="http://schemas.openxmlformats.org/officeDocument/2006/relationships" id="266" r:id="R7bc3b8757dde453e"/>
    <p:sldId xmlns:r="http://schemas.openxmlformats.org/officeDocument/2006/relationships" id="267" r:id="R862d44e2382f41e8"/>
    <p:sldId xmlns:r="http://schemas.openxmlformats.org/officeDocument/2006/relationships" id="268" r:id="R4c4027c56b974a9c"/>
    <p:sldId xmlns:r="http://schemas.openxmlformats.org/officeDocument/2006/relationships" id="269" r:id="R2cad6b03ad674337"/>
    <p:sldId xmlns:r="http://schemas.openxmlformats.org/officeDocument/2006/relationships" id="270" r:id="R391348f950ed4b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f11cae40c44315" /><Relationship Type="http://schemas.openxmlformats.org/officeDocument/2006/relationships/slideMaster" Target="/ppt/slideMasters/slideMaster1.xml" Id="R480ac45c9d694adc" /><Relationship Type="http://schemas.openxmlformats.org/officeDocument/2006/relationships/notesMaster" Target="/ppt/notesMasters/notesMaster1.xml" Id="Raa701674ec894b05" /><Relationship Type="http://schemas.openxmlformats.org/officeDocument/2006/relationships/presProps" Target="/ppt/presProps.xml" Id="R96b7729c7f39440e" /><Relationship Type="http://schemas.openxmlformats.org/officeDocument/2006/relationships/tableStyles" Target="/ppt/tableStyles.xml" Id="Rc8abc205382048a3" /><Relationship Type="http://schemas.openxmlformats.org/officeDocument/2006/relationships/slide" Target="/ppt/slides/slide1.xml" Id="R1ee9d2f4546b4958" /><Relationship Type="http://schemas.openxmlformats.org/officeDocument/2006/relationships/slide" Target="/ppt/slides/slide2.xml" Id="R5435d5e1986a45c4" /><Relationship Type="http://schemas.openxmlformats.org/officeDocument/2006/relationships/slide" Target="/ppt/slides/slide3.xml" Id="Rf339d5a4755b4150" /><Relationship Type="http://schemas.openxmlformats.org/officeDocument/2006/relationships/slide" Target="/ppt/slides/slide4.xml" Id="Rf2fbc6b674244cee" /><Relationship Type="http://schemas.openxmlformats.org/officeDocument/2006/relationships/slide" Target="/ppt/slides/slide5.xml" Id="R826aeddcbe9f4fd9" /><Relationship Type="http://schemas.openxmlformats.org/officeDocument/2006/relationships/slide" Target="/ppt/slides/slide6.xml" Id="R21b8d9b419994666" /><Relationship Type="http://schemas.openxmlformats.org/officeDocument/2006/relationships/slide" Target="/ppt/slides/slide7.xml" Id="R0752633d34b74dd0" /><Relationship Type="http://schemas.openxmlformats.org/officeDocument/2006/relationships/slide" Target="/ppt/slides/slide8.xml" Id="R359b1c9d157c4ed5" /><Relationship Type="http://schemas.openxmlformats.org/officeDocument/2006/relationships/slide" Target="/ppt/slides/slide9.xml" Id="Raf89a298a84d4c83" /><Relationship Type="http://schemas.openxmlformats.org/officeDocument/2006/relationships/slide" Target="/ppt/slides/slide10.xml" Id="R48d946cc12d04475" /><Relationship Type="http://schemas.openxmlformats.org/officeDocument/2006/relationships/slide" Target="/ppt/slides/slide11.xml" Id="R7bc3b8757dde453e" /><Relationship Type="http://schemas.openxmlformats.org/officeDocument/2006/relationships/slide" Target="/ppt/slides/slide12.xml" Id="R862d44e2382f41e8" /><Relationship Type="http://schemas.openxmlformats.org/officeDocument/2006/relationships/slide" Target="/ppt/slides/slide13.xml" Id="R4c4027c56b974a9c" /><Relationship Type="http://schemas.openxmlformats.org/officeDocument/2006/relationships/slide" Target="/ppt/slides/slide14.xml" Id="R2cad6b03ad674337" /><Relationship Type="http://schemas.openxmlformats.org/officeDocument/2006/relationships/slide" Target="/ppt/slides/slide15.xml" Id="R391348f950ed4b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ff240629fd4a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89aad8e8f1d45fd" /><Relationship Type="http://schemas.openxmlformats.org/officeDocument/2006/relationships/notesMaster" Target="/ppt/notesMasters/notesMaster1.xml" Id="Rc172964e17ec41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440f0e33174808" /><Relationship Type="http://schemas.openxmlformats.org/officeDocument/2006/relationships/notesMaster" Target="/ppt/notesMasters/notesMaster1.xml" Id="R60b5b047cd3640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bb9f739821448d" /><Relationship Type="http://schemas.openxmlformats.org/officeDocument/2006/relationships/notesMaster" Target="/ppt/notesMasters/notesMaster1.xml" Id="R15979801c4e541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7e17f1ce524e86" /><Relationship Type="http://schemas.openxmlformats.org/officeDocument/2006/relationships/notesMaster" Target="/ppt/notesMasters/notesMaster1.xml" Id="Rbc8594a06ab441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2c7a6e9e6e467b" /><Relationship Type="http://schemas.openxmlformats.org/officeDocument/2006/relationships/notesMaster" Target="/ppt/notesMasters/notesMaster1.xml" Id="R6e1ba5eef95444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12ec8a301b4797" /><Relationship Type="http://schemas.openxmlformats.org/officeDocument/2006/relationships/notesMaster" Target="/ppt/notesMasters/notesMaster1.xml" Id="R72d8146d90bc4c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55e09ac8aa4296" /><Relationship Type="http://schemas.openxmlformats.org/officeDocument/2006/relationships/notesMaster" Target="/ppt/notesMasters/notesMaster1.xml" Id="R8e0a510754c74b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35be5db41a4d54" /><Relationship Type="http://schemas.openxmlformats.org/officeDocument/2006/relationships/notesMaster" Target="/ppt/notesMasters/notesMaster1.xml" Id="R22f092d949c240e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4b763ff31948a8" /><Relationship Type="http://schemas.openxmlformats.org/officeDocument/2006/relationships/notesMaster" Target="/ppt/notesMasters/notesMaster1.xml" Id="R637eb770047545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9a5a862a724ef5" /><Relationship Type="http://schemas.openxmlformats.org/officeDocument/2006/relationships/notesMaster" Target="/ppt/notesMasters/notesMaster1.xml" Id="Ra69ad053095448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2ba0381aec84cea" /><Relationship Type="http://schemas.openxmlformats.org/officeDocument/2006/relationships/notesMaster" Target="/ppt/notesMasters/notesMaster1.xml" Id="R820825c0804a4c0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86472019e4d466b" /><Relationship Type="http://schemas.openxmlformats.org/officeDocument/2006/relationships/notesMaster" Target="/ppt/notesMasters/notesMaster1.xml" Id="R9e8a078611aa4a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8fb59b9c2c4432" /><Relationship Type="http://schemas.openxmlformats.org/officeDocument/2006/relationships/notesMaster" Target="/ppt/notesMasters/notesMaster1.xml" Id="R73692031d444479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8fff5f4819c451d" /><Relationship Type="http://schemas.openxmlformats.org/officeDocument/2006/relationships/notesMaster" Target="/ppt/notesMasters/notesMaster1.xml" Id="Reb9190c0ff2c492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ea45348d17f4cc1" /><Relationship Type="http://schemas.openxmlformats.org/officeDocument/2006/relationships/notesMaster" Target="/ppt/notesMasters/notesMaster1.xml" Id="Rce195dfef83444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1. Регулярные платежи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представляем «Aéza · Регулярные платежи» - приложение для ежемесячных расходов команды и напоминаний в Telegram. Оно помогает видеть собственные сроки, отмечать выполненную оплату и сохранять историю каждого месяца.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системе можно учитывать аренду, подписки, серверы и другие регулярные расходы. Мы сохранили бренд Aéza, но не ограничиваем продукт её услугами. Это решение кейса Invoice Keeper с дополнительными уточнениями заказчика о работе команды.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Стр.1–7. Последующее уточнение заказчика: одна команда, одна корпоративная Telegram-группа, личные платежи участника и доступ администратора ко всем записям. Аватар пользователя: assets/telegram/avatar.jpg, provenance.md.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2. Проблема и польза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Регулярные расходы часто распределены между сотрудниками. У каждого свои сроки и ответственность, а администратору нужно видеть общую картину. В переписке легко потерять дату или перепутать, за какой месяц выполнена оплата.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нашем сценарии сотрудник вносит свой расход, система создаёт отдельные месячные периоды и напоминает в корпоративной группе. В уведомлении видно, чей это платёж. Пользователь фиксирует факт и дату, администратор контролирует всю команду. Так срок превращается в конкретное действие ответственного участника.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Стр.2,17. Последующее уточнение заказчика: одна команда, одна корпоративная Telegram-группа, личные платежи участника и доступ администратора ко всем записям. team-overview.png,25.10.2026. Экономический эффект не измерялся.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3. Как подключается команда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 одном экземпляре приложения одна команда и одна общая группа Telegram. Администратор добавляет участника с заданным паролем либо создаёт одноразовое приглашение на 72 часа. Имя и логин назначает администратор, пароль по приглашению выбирает сам участник. После успешного принятия он сразу получает новую сессию.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Группа подключается отдельно. В веб-панели создаётся код на 10 минут. Администратор Telegram-группы отправляет команду подключения, бот проверяет его статус и группу. Затем администратор приложения видит найденного кандидата и подтверждает его в панели. Одного добавления бота или сообщения /start недостаточно.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Последующее уточнение заказчика: одна команда, одна корпоративная Telegram-группа, личные платежи участника и доступ администратора ко всем записям. Два способа выдачи доступа согласованы после PDF. API invitations/inspect/accept. Одноразовое приглашение действует 72 часа. Снимки от 25.10.2026 до выдачи секрета и ввода пароля.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4. Свои расходы и общий контроль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Участник видит только собственные расходы и полностью обслуживает их: создаёт серию, меняет будущие условия, прекращает учёт, отмечает оплату и исправляет дату. Администратор видит все записи и может создать расход от имени участника.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Ограничение проверяет сервер. Чужой ID или подменённый owner_id не дают доступ к чужим записям. Итоги и история тоже ограничены владельцем. Управление участниками, приглашениями и привязкой группы доступно администратору.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Есть отдельная согласованная граница: в корпоративной группе уведомления общие. Участники видят владельца, название, сумму, валюту и срок. Личная веб-область не означает скрытие уже опубликованного сообщения в Telegram.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Стр.2,6,9 описывают общий список и ограниченные права пользователя. Последующее уточнение заказчика: одна команда, одна корпоративная Telegram-группа, личные платежи участника и доступ администратора ко всем записям. Это согласованное изменение. owner_scope/can_manage и test_ownership_invitations.py. Уведомления в общем чате видны всем участникам группы отдельно от личной веб-области.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5. Серия и отдельные месяцы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Мы разделили регулярный расход и его периоды. Например, аренда - одна серия, а октябрьская и ноябрьская оплаты - две записи с отдельными сроками и статусами.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Оплата октября не закрывает ноябрь. Просрочка старого месяца не мешает появиться следующему. Каждый период хранит снимок условий, поэтому изменение будущей суммы не переписывает прошлое. Прекращение серии сохраняет историю и останавливает дальнейшие периоды и напоминания.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Стр.4–5,10–11. Редактируемая схема recurring_payments/payment_occurrences. Условия периода хранятся снимком. Прекращение серии сохраняет историю. Условный пример.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6. Даты и деньги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Для срока на 31 января февраль использует последний день месяца, а март снова 31-е. Мы сохраняем исходное число, чтобы короткий месяц не сдвинул все последующие сроки.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Деловая дата определяется единым часовым поясом. В день срока просрочки ещё нет, она начинается со следующего дня. У оплаченного периода расчёт зависит от фактической даты. Её исправление меняет просрочку, но не плановый срок.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Суммы хранятся целыми минимальными единицами. RUB, USD и EUR учитываются отдельно, без неявной конвертации и сложения разных валют.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Стр.3–5,7,11. domain.py/test_domain_worker.py. Деньги хранятся целыми минимальными единицами соответствующей валюты. Исправление фактической даты меняет просрочку, сохраняя срок. Конвертации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7. Напоминание в общей группе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Отдельный worker проверяет сроки без открытой страницы. За три календарных дня до оплаты появляется уведомление с владельцем, названием, суммой, валютой и сроком. Поздно добавленный расход попадает в ближайшую проверку. Уже оплаченные и прекращённые расходы перед отправкой исключаются.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Получатель фиксируется в outbox. Подтверждённая доставка не повторяется после следующего прохода или перезапуска. Если Telegram принял сообщение, а ответ потерялся, результат неоднозначен. Мы сохраняем unknown и не повторяем автоматически, чтобы не создать возможный дубль.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Бот только уведомляет. Он не показывает финансовые списки по командам и не подтверждает оплату. Ответ Bot API также не означает, что все прочитали сообщение или получили push: настройки Telegram находятся вне нашего контроля.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 7–8, 10. Последующее уточнение заказчика: одна команда, одна корпоративная Telegram-группа, личные платежи участника и доступ администратора ко всем записям. Root подтвердил 25.10.2026: пользователь выполнил /connect в реальной группе InKeep, затем подтвердил группу в веб-панели. Bot API принял два новых напоминания, общее число sent выросло с 5 до 7. После перезапуска привязка сохранилась. Это подтверждение Bot API, а не прочтение всеми участниками или получение push. На слайде актуальный экран подключённой группы. Worker фиксирует получателя в outbox. sent и unknown не повторяются для того же периода и группы даже после смены токена. Неоднозначную доставку автоматически не повторяем.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8. Архитектура и стек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Интерфейс написан на React и TypeScript, собирается Vite. Сервер - Python и FastAPI, база - SQLite. Отдельно работают worker напоминаний и poller служебного подключения Telegram.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Для одной команды на одном сервере SQLite упрощает запуск и резервное копирование. Транзакции и ограничения базы защищают данные и задания. Отдельный сервер базы и брокер очередей для этого масштаба не нужны. Несколько хостов потребовали бы другой базы и механизма координации; такую масштабируемость мы не заявляем.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Публичная среда использует HTTPS reverse proxy. Секреты хранятся на сервере, а frontend получает только разрешённые данные.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Редактируемая схема по app.py,worker.py,telegram_bot.py,telegram_connections.py, README и architecture.md. Worker и poller используют общую SQLite и Telegram Bot API. Один хост. Многохостовое масштабирование не заявлено.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9. API и проверка доступа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API - способ, которым страница обращается к серверу. Нажатие «Оплачено» отправляет запрос. Сервер проверяет сессию и владельца, сохраняет один период и возвращает результат.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Обязательные маршруты кейса с префиксом /api/v1 сохранены. Новая модель добавляет владельцев, приглашения, смену пароля и подтверждение группы. Есть OpenAPI и Swagger для разработчика. Обычному пользователю не нужно вызывать API вручную.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Пароли хешируются. Изменения требуют CSRF, браузерный источник проверяется. После самостоятельной смены пароля все сессии участника отзываются и нужен новый вход. Конфигурационный администратор через API не меняется.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 12–14. Последующее уточнение заказчика: одна команда, одна корпоративная Telegram-группа, личные платежи участника и доступ администратора ко всем записям. Обязательные маршруты сохранены. Новые: invitations, auth/password, telegram/connection. Чужой финансовый ID возвращает 404, чужой owner_id при создании участником возвращает 403. Пароли scrypt, HttpOnly-cookie, Origin и CSRF.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10. Повседневная работа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Календарь, поиск, фильтры и CSV помогают найти нужный период. Мобильное представление позволяет отметить оплату с телефона. Журнал показывает действия и состояние напоминаний администратору.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Условия серии меняются со следующего месяца, сохраняя текущие и оплаченные снимки. Удаление участника не уничтожает финансовую историю: его серии переходят конфигурационному администратору.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Дизайн спокойный: тёмно-серая рабочая область, светлая нейтральная типографика и редкие оранжевые акценты. Оформление помогает читать данные и выполнять действия. Оно не заменяет корректность владельцев, дат и доставки.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 16, дополнительные возможности. Собственные team-mobile.png и team-create.png с условными данными от 25.10.2026. Мобильная ширина документа равна 375 из 375. Администратор выбрал Алексея Смирнова и условную «Уборку офиса», это не реальная покупка. Текущие и оплаченные снимки сохраняются. Удаление пользователя передаёт серии администратору без потери истории.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Слайд 11. Проверка и передача решения</a:t>
            </a:r>
          </a:p>
          <a:p xmlns:a="http://schemas.openxmlformats.org/drawingml/2006/main">
            <a:r>
              <a:t>Полный набор из 154 тестов прошёл локально и на сервере. Проверили владельцев, приглашения, сессии, периоды, даты, валюты, миграцию и очередь. Стенд доступен по HTTPS, три службы работают отдельно. Старые состояния сохранились. Пользователь подключил группу InKeep и подтвердил её в веб-панели. Bot API принял два новых уведомления. Это не доказывает прочтение каждым участником.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 10–11, 17. Root подтвердил 25.10.2026: backend/tests и qa/test_api.py, 154 passed локально за 135.89s. Финальный серверный релиз 20261025-team-2, 154 passed за 17.65s, один StarletteDeprecationWarning. HTTPS и три активные службы. Миграция сохранила 8 серий, 21 период, 5 старых sent и polling offsets, foreign_key_check без нарушений. Реальная группа InKeep подключена через команду и веб-подтверждение. Два новых уведомления получили Bot API ack, итоговый sent равен 7. Прочтение каждым участником не заявлено.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12. Живая демонстрация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Переключиться на приложение. Выполнить D1-D7 из следующего раздела в исходном порядке. Дополнительный сценарий сотрудника и группы показывается отдельно и не заменяет эти действия.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 15, D1–D7. Последующее уточнение заказчика: одна команда, одна корпоративная Telegram-группа, личные платежи участника и доступ администратора ко всем записям. D2 назначает владельца A, чтобы в D4 участник обслуживал тот же период. Создаётся новая серия. Старое sent не переотправляется ради показа. D3 требует новое реальное сообщение в подтверждённой группе. Подготовка демонстратора описана в docs/defense-speech.md.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13. Результат и границы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Сквозной путь такой: администратор добавляет участника, сотрудник ведёт свои расходы, система напоминает в корпоративной группе, оплата одного месяца сохраняется отдельно от следующего. Администратор видит общую картину команды.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Это ручной учёт. Приложение не списывает деньги и не подтверждает банковский перевод. Поддерживается ежемесячный цикл, одна команда и одна группа. Годовые интервалы, частичные оплаты и другие каналы - отдельные возможные этапы, а не готовые функции.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 11, 17. Последующее уточнение заказчика: одна команда, одна корпоративная Telegram-группа, личные платежи участника и доступ администратора ко всем записям. Ручной учёт без банковских операций. Годовой бюджет, SMTP/webhook, чеки и другие интервалы не заявлены готовыми. Подключение группы реализовано, две реальные отправки приняты Bot API. Передаём код, README, .env.example, условный seed, OpenAPI и документацию.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14. Справочник API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Приложение для вопросов, не часть основного рассказа. Сохраняет обязательные маршруты PDF и показывает, где находится актуальная спецификация. Новые маршруты не выдаются за обязательные методы исходного задания.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Исходный источник: выданный PDF Invoice Keeper, 18 страниц. Стр. 12–14. Обязательный исходный контракт отдельно от уточнений. {id} обозначает payment_id, occurrence_id или user_id. Дополнительные API: PATCH recurring-payments, invitations GET/POST/DELETE и inspect/accept, auth/password, telegram/connection GET/DELETE и request/confirm. Актуальная спецификация openapi.json, Swagger /api/v1/docs.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### Слайд 15. Открыть проект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Оставить финальный экран с двумя QR-кодами. Сказать: «Здесь веб-приложение и @aezainkeep_bot. Для веб-данных нужна учётная запись или действующее приглашение. Ссылка на бота сама по себе не подключает группу: привязку подтверждает администратор».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Адрес тестового стенда - https://138.124.14.93/. Перед выступлением проверить его доступность и срок аренды. Итоговый файл презентации - Rex_aeza_InvoiceKeeper.pptx, заголовок «Регулярные платежи».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 и подтверждение:</a:t>
            </a:r>
          </a:p>
          <a:p xmlns:a="http://schemas.openxmlformats.org/drawingml/2006/main">
            <a:r>
              <a:t>Пользовательский QR Telegram: https://t.me/aezainkeep_bot. QR сайта: https://138.124.14.93/. Сохранённые исходные файлы. Бот только уведомляет общую группу, личный /start её не подключает. Финансовые данные требуют веб-сессию. Тестовый VPS ограничен по сроку. Репозиторий private: https://github.com/MadSparr0w0/aeza-renewals, публичный доступ не обещается.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9936c87cbf4e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9e3ca653148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a97c29e0b14b7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add9ea17de4f5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402a9f67a74ed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941d8d0c54a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E095A1-8BF7-4DAB-A07D-87B2262DDD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78507BC-BA24-40BE-AED2-5B6B9F4E158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BC91D7A-60D1-48D1-B671-E107848DAB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85B819-A219-4844-B815-9A3ECCE21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14D6125-A858-4F0D-A3BA-EB41F369E2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1CEEE5C-DFCB-45EB-AA26-68EB418893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D212277-76FF-4D3C-9AB1-F086291262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1E33F40-3D13-4740-807F-F1F3EF3796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E6C876-367C-4BAA-9B46-C0544CF694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314ED90-9F8F-4887-9D90-74DD6C34B6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7b03fa5a954512" /><Relationship Type="http://schemas.openxmlformats.org/officeDocument/2006/relationships/slideLayout" Target="/ppt/slideLayouts/slideLayout1.xml" Id="R14340806967645dc" /><Relationship Type="http://schemas.openxmlformats.org/officeDocument/2006/relationships/slideLayout" Target="/ppt/slideLayouts/slideLayout2.xml" Id="R4df4dbc874164c4f" /><Relationship Type="http://schemas.openxmlformats.org/officeDocument/2006/relationships/slideLayout" Target="/ppt/slideLayouts/slideLayout3.xml" Id="R77c8b44f999a48fe" /><Relationship Type="http://schemas.openxmlformats.org/officeDocument/2006/relationships/slideLayout" Target="/ppt/slideLayouts/slideLayout4.xml" Id="R7733880a9c4344c2" /><Relationship Type="http://schemas.openxmlformats.org/officeDocument/2006/relationships/slideLayout" Target="/ppt/slideLayouts/slideLayout5.xml" Id="R1dde18eb487346b0" /><Relationship Type="http://schemas.openxmlformats.org/officeDocument/2006/relationships/slideLayout" Target="/ppt/slideLayouts/slideLayout6.xml" Id="R7f2e5e4d2b6f43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340806967645dc"/>
    <p:sldLayoutId xmlns:r="http://schemas.openxmlformats.org/officeDocument/2006/relationships" id="2147483650" r:id="R4df4dbc874164c4f"/>
    <p:sldLayoutId xmlns:r="http://schemas.openxmlformats.org/officeDocument/2006/relationships" id="2147483651" r:id="R77c8b44f999a48fe"/>
    <p:sldLayoutId xmlns:r="http://schemas.openxmlformats.org/officeDocument/2006/relationships" id="2147483652" r:id="R7733880a9c4344c2"/>
    <p:sldLayoutId xmlns:r="http://schemas.openxmlformats.org/officeDocument/2006/relationships" id="2147483653" r:id="R1dde18eb487346b0"/>
    <p:sldLayoutId xmlns:r="http://schemas.openxmlformats.org/officeDocument/2006/relationships" id="2147483654" r:id="R7f2e5e4d2b6f43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35185b53184aa3" /><Relationship Type="http://schemas.openxmlformats.org/officeDocument/2006/relationships/image" Target="/ppt/media/image.jpeg" Id="R86492af03fc5470b" /><Relationship Type="http://schemas.openxmlformats.org/officeDocument/2006/relationships/notesSlide" Target="/ppt/notesSlides/notesSlide1.xml" Id="R6cb57ced54194e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cdb9f364404b93" /><Relationship Type="http://schemas.openxmlformats.org/officeDocument/2006/relationships/image" Target="/ppt/media/image.png" Id="Rdb07ce43fbf84dc5" /><Relationship Type="http://schemas.openxmlformats.org/officeDocument/2006/relationships/notesSlide" Target="/ppt/notesSlides/notesSlide2.xml" Id="Rd0fd80a322db422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6a0292dc7f456f" /><Relationship Type="http://schemas.openxmlformats.org/officeDocument/2006/relationships/image" Target="/ppt/media/image2.png" Id="R68e9b8e7517a4fa4" /><Relationship Type="http://schemas.openxmlformats.org/officeDocument/2006/relationships/image" Target="/ppt/media/image3.png" Id="R5582538b1646459e" /><Relationship Type="http://schemas.openxmlformats.org/officeDocument/2006/relationships/notesSlide" Target="/ppt/notesSlides/notesSlide3.xml" Id="R1bdd2538e2dc41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6092ea9a854de1" /><Relationship Type="http://schemas.openxmlformats.org/officeDocument/2006/relationships/notesSlide" Target="/ppt/notesSlides/notesSlide4.xml" Id="Rd4f1f18e8e2f41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a3c1a7e3374e5b" /><Relationship Type="http://schemas.openxmlformats.org/officeDocument/2006/relationships/notesSlide" Target="/ppt/notesSlides/notesSlide5.xml" Id="R07f90efebd1f45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2fa6ce16af499a" /><Relationship Type="http://schemas.openxmlformats.org/officeDocument/2006/relationships/notesSlide" Target="/ppt/notesSlides/notesSlide6.xml" Id="Rb29a7022f4c448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b730f197a44f13" /><Relationship Type="http://schemas.openxmlformats.org/officeDocument/2006/relationships/image" Target="/ppt/media/image4.png" Id="R8a982ddf7eca4f96" /><Relationship Type="http://schemas.openxmlformats.org/officeDocument/2006/relationships/notesSlide" Target="/ppt/notesSlides/notesSlide7.xml" Id="R595fd4ed57ca4b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a910ea42714327" /><Relationship Type="http://schemas.openxmlformats.org/officeDocument/2006/relationships/notesSlide" Target="/ppt/notesSlides/notesSlide8.xml" Id="R3c42f511d2df4c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18df3535b946ad" /><Relationship Type="http://schemas.openxmlformats.org/officeDocument/2006/relationships/notesSlide" Target="/ppt/notesSlides/notesSlide9.xml" Id="Red219863c7c24b1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15813249d342cf" /><Relationship Type="http://schemas.openxmlformats.org/officeDocument/2006/relationships/image" Target="/ppt/media/image5.png" Id="Ra505f454007e4711" /><Relationship Type="http://schemas.openxmlformats.org/officeDocument/2006/relationships/image" Target="/ppt/media/image6.png" Id="Rfccb87d8b44e446f" /><Relationship Type="http://schemas.openxmlformats.org/officeDocument/2006/relationships/notesSlide" Target="/ppt/notesSlides/notesSlide10.xml" Id="R5cba0b664e4147a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b478d36ff04318" /><Relationship Type="http://schemas.openxmlformats.org/officeDocument/2006/relationships/notesSlide" Target="/ppt/notesSlides/notesSlide11.xml" Id="R1db2e569b29c450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1dde8f68734b1c" /><Relationship Type="http://schemas.openxmlformats.org/officeDocument/2006/relationships/notesSlide" Target="/ppt/notesSlides/notesSlide12.xml" Id="Rd6bbb78ddecf42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a8fd57d0b245d4" /><Relationship Type="http://schemas.openxmlformats.org/officeDocument/2006/relationships/notesSlide" Target="/ppt/notesSlides/notesSlide13.xml" Id="Rce03d56e052e482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1a278008a147ea" /><Relationship Type="http://schemas.openxmlformats.org/officeDocument/2006/relationships/notesSlide" Target="/ppt/notesSlides/notesSlide14.xml" Id="Rb5cd8fb9e8864ab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589b9737c94d81" /><Relationship Type="http://schemas.openxmlformats.org/officeDocument/2006/relationships/image" Target="/ppt/media/image7.png" Id="Rb382a8dc31b64090" /><Relationship Type="http://schemas.openxmlformats.org/officeDocument/2006/relationships/image" Target="/ppt/media/image8.png" Id="Rf7d521813b514e06" /><Relationship Type="http://schemas.openxmlformats.org/officeDocument/2006/relationships/notesSlide" Target="/ppt/notesSlides/notesSlide15.xml" Id="R193fd24985f24f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E7507-B69A-44A3-9EB1-E771A75B77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92af03fc5470b"/>
          <a:stretch xmlns:a="http://schemas.openxmlformats.org/drawingml/2006/main"/>
        </p:blipFill>
        <p:spPr>
          <a:xfrm xmlns:a="http://schemas.openxmlformats.org/drawingml/2006/main">
            <a:off x="571500" y="4572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9E4A6-EEAB-47AD-A34B-CD295DDB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8175"/>
            <a:ext cx="4286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Aéza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7396D-F3E0-482C-8AA7-D286679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1095375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Регулярные</a:t>
            </a:r>
          </a:p>
          <a:p xmlns:a="http://schemas.openxmlformats.org/drawingml/2006/main">
            <a:pPr>
              <a:defRPr sz="58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платежи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2BA62-3E2F-4B0A-9A54-C28E4242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47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Расходы команды и напоминания</a:t>
            </a:r>
          </a:p>
          <a:p xmlns:a="http://schemas.openxmlformats.org/drawingml/2006/main">
            <a:pPr>
              <a:defRPr sz="24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в корпоративной группе Telegram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6F02C-0F62-4EFC-A9E6-DF438ABE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Решение кейса Invoice Keeper</a:t>
            </a:r>
          </a:p>
        </p:txBody>
      </p:sp>
    </p:spTree>
    <p:extLst>
      <p:ext uri="{BB962C8B-B14F-4D97-AF65-F5344CB8AC3E}">
        <p14:creationId xmlns:p14="http://schemas.microsoft.com/office/powerpoint/2010/main" val="10062490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92EEC-F8BA-4686-ACF1-0892D14A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Проблема и польза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1A9C6D-DE87-4A36-BB93-68FD3723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EDA79-9812-4136-81F1-119A6F29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Расходы распределены</a:t>
            </a:r>
          </a:p>
          <a:p xmlns:a="http://schemas.openxmlformats.org/drawingml/2006/main">
            <a: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между участниками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8848E-2E04-4C40-81A9-2B385A98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4000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У каждого свой срок и своя ответственность. Администратору нужна общая картина.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8BDD0-D058-4110-989A-557B82DE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72050"/>
            <a:ext cx="4000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Период хранит факт оплаты и дату отдельно от следующего месяца.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5CA208-7B39-4A4E-86E7-C037714F78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07ce43fbf84dc5"/>
          <a:stretch xmlns:a="http://schemas.openxmlformats.org/drawingml/2006/main"/>
        </p:blipFill>
        <p:spPr>
          <a:xfrm xmlns:a="http://schemas.openxmlformats.org/drawingml/2006/main">
            <a:off x="5080333" y="1504950"/>
            <a:ext cx="6460458" cy="45243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89A3F8-117A-43EC-893B-F29A51890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60769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Административный обзор. Условные демоданные</a:t>
            </a:r>
          </a:p>
        </p:txBody>
      </p:sp>
    </p:spTree>
    <p:extLst>
      <p:ext uri="{BB962C8B-B14F-4D97-AF65-F5344CB8AC3E}">
        <p14:creationId xmlns:p14="http://schemas.microsoft.com/office/powerpoint/2010/main" val="18654965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B57F2F-55FF-4BF8-BE7D-F3B4A632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Как подключается команда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551B4-AFDB-4D14-BF67-CB0BAAC6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954B33-A212-43DB-8741-5984A6E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Одна команда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EC7C08-EEB9-498F-A853-CDB4F9BC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76475"/>
            <a:ext cx="381000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Администратор создаёт аккаунт с паролем или приглашение на 72 часа.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E61B94-FB64-4FC5-8614-AF36AD55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81450"/>
            <a:ext cx="3810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По приглашению участник задаёт пароль самостоятельно и сразу входит в приложение.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D0F08-CAD2-43E6-ABCC-98A5E8CD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66850"/>
            <a:ext cx="333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Приглашение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6B8878-F216-4A4C-A131-E2F1C5208F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e9b8e7517a4fa4"/>
          <a:srcRect xmlns:a="http://schemas.openxmlformats.org/drawingml/2006/main" l="27000" t="17000" r="25000" b="17000"/>
          <a:stretch xmlns:a="http://schemas.openxmlformats.org/drawingml/2006/main"/>
        </p:blipFill>
        <p:spPr>
          <a:xfrm xmlns:a="http://schemas.openxmlformats.org/drawingml/2006/main">
            <a:off x="4762500" y="2436949"/>
            <a:ext cx="3476625" cy="268895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A3E05-1925-4393-AB3E-3835F9F5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466850"/>
            <a:ext cx="3095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Активация аккаунта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44567-0188-4C1F-AB14-8C1329D3FD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82538b1646459e"/>
          <a:srcRect xmlns:a="http://schemas.openxmlformats.org/drawingml/2006/main" l="34700" t="12000" r="34700" b="35000"/>
          <a:stretch xmlns:a="http://schemas.openxmlformats.org/drawingml/2006/main"/>
        </p:blipFill>
        <p:spPr>
          <a:xfrm xmlns:a="http://schemas.openxmlformats.org/drawingml/2006/main">
            <a:off x="8528473" y="1962150"/>
            <a:ext cx="3088429" cy="3714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9B112-8885-4B5B-8F0E-E5E9E72B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924550"/>
            <a:ext cx="685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Общую группу Telegram администратор подключает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20707968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8F6649-9AB4-44CB-BDD2-73734496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Свои расходы и общий контроль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1EFF7-50DD-4ABE-A722-6CCD4DD7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F1BC26-4ADE-4EAC-B0EA-595A2B83CEA3}"/>
              </a:ext>
            </a:extLst>
          </p:cNvPr>
          <p:cNvGraphicFramePr/>
          <p:nvPr/>
        </p:nvGraphicFramePr>
        <p:xfrm>
          <a:off xmlns:a="http://schemas.openxmlformats.org/drawingml/2006/main" x="571500" y="157162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2809875"/>
                <a:gridCol w="3095625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Возможность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Участник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Администратор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Список, итоги и история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Только свои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Все платежи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Создание, условия и оплата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Свои платежи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Для любого участника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Участники, приглашения, чат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Недоступно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Управление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Собственный пароль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Смена в приложении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Настройка окружения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4A2F82-3C8C-45AE-9E3D-88EA1204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Сервер проверяет владельца в каждом финансовом запросе.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CB2E8C-F618-40E7-8C3E-23AA480A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Личные платежи и права участника согласованы после исходного PDF.</a:t>
            </a:r>
          </a:p>
        </p:txBody>
      </p:sp>
    </p:spTree>
    <p:extLst>
      <p:ext uri="{BB962C8B-B14F-4D97-AF65-F5344CB8AC3E}">
        <p14:creationId xmlns:p14="http://schemas.microsoft.com/office/powerpoint/2010/main" val="4165194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1472AA-EEBE-4100-8D78-5897614E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Серия и отдельные месяцы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15799-1303-4B79-8F4D-1A931105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88BB2-E95D-4A30-BE67-CDE99F15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9725"/>
            <a:ext cx="11049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Серия «Аренда офиса»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3038C-90BD-4FEB-939B-0752CDDC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1104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Название, сумма, валюта и исходное число месяца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2B0D29-18AD-4470-B44B-C1F70DD0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78661-4F7A-4E3B-80BE-12D27F2D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Октябрь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98F6B6-BF12-4732-BC8F-3C3E796A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71950"/>
            <a:ext cx="31432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Оплата 24 октября</a:t>
            </a:r>
          </a:p>
          <a:p xmlns:a="http://schemas.openxmlformats.org/drawingml/2006/main">
            <a: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остаётся в истории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268B7-E08C-4569-8F80-B2F23024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429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Ноябрь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1B49CE-B572-4B4A-8EB6-3AF0B41D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171950"/>
            <a:ext cx="31432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Собственный срок</a:t>
            </a:r>
          </a:p>
          <a:p xmlns:a="http://schemas.openxmlformats.org/drawingml/2006/main">
            <a: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и отдельный статус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69E67-491C-4959-A715-15AD05D4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Декабрь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44F5D1-FEC7-44AB-8D11-1FBDCA65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71950"/>
            <a:ext cx="31432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Собственный срок</a:t>
            </a:r>
          </a:p>
          <a:p xmlns:a="http://schemas.openxmlformats.org/drawingml/2006/main">
            <a:pPr>
              <a:defRPr sz="21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и отдельный статус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C2D86E-3BB7-472E-B47F-9FB53BC3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Изменение будущих условий сохраняет текущий и оплаченные периоды.</a:t>
            </a:r>
          </a:p>
        </p:txBody>
      </p:sp>
    </p:spTree>
    <p:extLst>
      <p:ext uri="{BB962C8B-B14F-4D97-AF65-F5344CB8AC3E}">
        <p14:creationId xmlns:p14="http://schemas.microsoft.com/office/powerpoint/2010/main" val="349866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612772-A21D-4DFE-9821-235D18FB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Даты и деньги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D3BA29-8556-49C5-9F02-9407DF36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2D4A62-90C8-404A-937D-6E5B4EAA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24025"/>
            <a:ext cx="31908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31 января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6F57DA-86A6-4529-BE5C-2364AF0E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4333875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28 или 29 февраля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47C51-B8B6-4523-A427-177EF21BF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24025"/>
            <a:ext cx="23812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31 марта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35102-616D-4EE0-9FAC-47695E64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9875"/>
            <a:ext cx="11049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Короткий месяц использует последний день.</a:t>
            </a:r>
          </a:p>
          <a:p xmlns:a="http://schemas.openxmlformats.org/drawingml/2006/main">
            <a:pPr>
              <a:defRPr sz="23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Следующий месяц восстанавливает исходное число.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882BD-767C-4E01-914A-BF65009A7804}"/>
              </a:ext>
            </a:extLst>
          </p:cNvPr>
          <p:cNvGraphicFramePr/>
          <p:nvPr/>
        </p:nvGraphicFramePr>
        <p:xfrm>
          <a:off xmlns:a="http://schemas.openxmlformats.org/drawingml/2006/main" x="571500" y="4162425"/>
          <a:ext xmlns:a="http://schemas.openxmlformats.org/drawingml/2006/main" cx="11049000" cy="1371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86175"/>
                <a:gridCol w="3676650"/>
                <a:gridCol w="3686175"/>
              </a:tblGrid>
              <a:tr h="6858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RUB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USD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EUR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Отдельный итог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Отдельный итог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Отдельный итог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72989C-F76A-4B96-864A-DD48BB02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2625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Единый часовой пояс. В день срока просрочки нет.</a:t>
            </a:r>
          </a:p>
          <a:p xmlns:a="http://schemas.openxmlformats.org/drawingml/2006/main">
            <a:pPr>
              <a:defRPr sz="18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Деньги хранятся целыми минимальными единицами.</a:t>
            </a:r>
          </a:p>
        </p:txBody>
      </p:sp>
    </p:spTree>
    <p:extLst>
      <p:ext uri="{BB962C8B-B14F-4D97-AF65-F5344CB8AC3E}">
        <p14:creationId xmlns:p14="http://schemas.microsoft.com/office/powerpoint/2010/main" val="9921825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F650D0-EFD0-4151-9252-F01FC89D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Напоминание в общей группе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B7B91-A1AF-4D2E-A137-AB893BA3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FD4BD-0A95-4D73-88BF-A3BE5158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238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За 3 дня до срока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D32AF2-1B9F-4CA2-9927-778E0333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0275"/>
            <a:ext cx="5238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Ответственный, название, сумма,</a:t>
            </a:r>
          </a:p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валюта и срок оплаты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D19A9-4807-46AC-A593-8023BDC2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51435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Код действует 10 минут</a:t>
            </a:r>
          </a:p>
          <a:p xmlns:a="http://schemas.openxmlformats.org/drawingml/2006/main">
            <a: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Команду отправляет администратор группы</a:t>
            </a:r>
          </a:p>
          <a:p xmlns:a="http://schemas.openxmlformats.org/drawingml/2006/main">
            <a: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Название подтверждают в веб-панели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5616A-F959-454B-841A-BDBA9A03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523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Бот только уведомляет.</a:t>
            </a:r>
          </a:p>
          <a:p xmlns:a="http://schemas.openxmlformats.org/drawingml/2006/main">
            <a: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Оплаты отмечают в приложении.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1E0C22-CAF5-4914-A226-E96291CDD7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982ddf7eca4f96"/>
          <a:srcRect xmlns:a="http://schemas.openxmlformats.org/drawingml/2006/main" l="21000" t="23000" r="40500" b="27000"/>
          <a:stretch xmlns:a="http://schemas.openxmlformats.org/drawingml/2006/main"/>
        </p:blipFill>
        <p:spPr>
          <a:xfrm xmlns:a="http://schemas.openxmlformats.org/drawingml/2006/main">
            <a:off x="6914804" y="1495425"/>
            <a:ext cx="4029767" cy="3667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ED782-EEDD-4847-ADE4-5546CB21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353050"/>
            <a:ext cx="5381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Подключённая группа InKeep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4E36D-1C5A-44DF-B5E0-6305AE340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991225"/>
            <a:ext cx="5381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Bot API принял 2 новых уведомления.</a:t>
            </a:r>
          </a:p>
          <a:p xmlns:a="http://schemas.openxmlformats.org/drawingml/2006/main">
            <a:pPr>
              <a:defRPr sz="150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Прочтение участниками не проверяется.</a:t>
            </a:r>
          </a:p>
        </p:txBody>
      </p:sp>
    </p:spTree>
    <p:extLst>
      <p:ext uri="{BB962C8B-B14F-4D97-AF65-F5344CB8AC3E}">
        <p14:creationId xmlns:p14="http://schemas.microsoft.com/office/powerpoint/2010/main" val="15152880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483A1-EA69-42CB-9A5C-A69EFB9A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Архитектура и стек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0E9185-2665-4771-8E0D-07E4CCD9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A236A-6A09-4D76-8D97-DA89F0FD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81583F-A030-470F-A31F-FB4D79DF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4307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React + TypeScript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155C98-561D-434E-B06B-C622FC23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Интерфейс, сборка Vite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6DA29-5866-49FC-9F4C-C61BD367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71625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EFE00-C20A-422A-919A-5589CD05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74307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Python + FastAPI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3CA07D-E750-4FEC-91A6-71BD15C5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219325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Сессии, владельцы,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D7EF36-7695-44B1-BA0C-1579558B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71625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C4E8A-C070-4E99-B09A-4890163E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743075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SQLite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5257A-0728-4EEE-8DC5-DC6A4294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19325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Периоды, очередь, история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714309-27F0-4B98-A8F1-39CB27D0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14750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9A41AA-51F7-4148-803E-EB4E5964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86200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C9800E-06AB-48EA-888F-B9D9CA10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36245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Доставка напоминаний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1EA5FF-D005-40F5-A952-10CF0217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3333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6B74C0-4731-43C8-8FF5-92D3F789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86200"/>
            <a:ext cx="299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Telegram poller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843BAA-A458-4C75-B8F0-5AE76B53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36245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Служебное подключение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CEE9B1-2FB7-4EB2-A58C-01A425C2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95500"/>
            <a:ext cx="523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0C9F31-9B7A-41BA-AFBF-1904D80C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95500"/>
            <a:ext cx="523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FB411-1C73-4EFC-9C35-3C2BBDFF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638425"/>
            <a:ext cx="9525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01FDE-4294-4116-A0E7-C8AC553E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3857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B1998D-E98E-4F08-8A29-DF1499F8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357446-6718-4BC9-AE6B-5412FDF7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Одна команда на одном хосте. HTTPS принимает nginx.</a:t>
            </a:r>
          </a:p>
          <a:p xmlns:a="http://schemas.openxmlformats.org/drawingml/2006/main">
            <a:pPr>
              <a:defRPr sz="21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API, worker и poller работают отдельными службами systemd.</a:t>
            </a:r>
          </a:p>
        </p:txBody>
      </p:sp>
    </p:spTree>
    <p:extLst>
      <p:ext uri="{BB962C8B-B14F-4D97-AF65-F5344CB8AC3E}">
        <p14:creationId xmlns:p14="http://schemas.microsoft.com/office/powerpoint/2010/main" val="16586713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3FA205-A2A8-4C1E-A7BD-D3E6E6DF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API и проверка доступа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5C8611-0FCC-4052-9D0B-E6F0AB1C0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B2BB8D-D4F1-42F6-8BBD-06F84A247C9F}"/>
              </a:ext>
            </a:extLst>
          </p:cNvPr>
          <p:cNvGraphicFramePr/>
          <p:nvPr/>
        </p:nvGraphicFramePr>
        <p:xfrm>
          <a:off xmlns:a="http://schemas.openxmlformats.org/drawingml/2006/main" x="571500" y="1552575"/>
          <a:ext xmlns:a="http://schemas.openxmlformats.org/drawingml/2006/main" cx="110490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667500"/>
                <a:gridCol w="438150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Запрос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Проверка сервера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POST /api/v1/auth/login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Пароль и новая сессия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GET /api/v1/payment-occurrences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Только разрешённые владельцы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PATCH /api/v1/payment-occurrences/{id}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Владелец или администратор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363967-011C-4935-8C21-E90BDFE4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1104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Изменения требуют CSRF и допустимый Origin.</a:t>
            </a:r>
          </a:p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Смена собственного пароля отзывает все сессии участника.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4C7DB-8DDF-4C8F-9A80-8F447E8C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OpenAPI в поставке. Swagger после входа: /api/v1/docs</a:t>
            </a:r>
          </a:p>
        </p:txBody>
      </p:sp>
    </p:spTree>
    <p:extLst>
      <p:ext uri="{BB962C8B-B14F-4D97-AF65-F5344CB8AC3E}">
        <p14:creationId xmlns:p14="http://schemas.microsoft.com/office/powerpoint/2010/main" val="21331196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1D77B-A1E1-457C-9870-813D5BC7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Повседневная работа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AB2580-187E-40F1-AB05-06979F98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A96059-8C05-4AE1-B974-B9AFA9ADDF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05f454007e4711"/>
          <a:stretch xmlns:a="http://schemas.openxmlformats.org/drawingml/2006/main"/>
        </p:blipFill>
        <p:spPr>
          <a:xfrm xmlns:a="http://schemas.openxmlformats.org/drawingml/2006/main">
            <a:off x="571500" y="1526985"/>
            <a:ext cx="2095500" cy="4537456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9D645-B279-43A9-83C1-B98874A2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495425"/>
            <a:ext cx="4143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Создание за участника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ED539D-CC83-4EC5-9353-F63D01827C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b87d8b44e446f"/>
          <a:srcRect xmlns:a="http://schemas.openxmlformats.org/drawingml/2006/main" l="27000" t="9000" r="28000" b="9000"/>
          <a:stretch xmlns:a="http://schemas.openxmlformats.org/drawingml/2006/main"/>
        </p:blipFill>
        <p:spPr>
          <a:xfrm xmlns:a="http://schemas.openxmlformats.org/drawingml/2006/main">
            <a:off x="3254196" y="2066925"/>
            <a:ext cx="3826233" cy="3924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B7B17B-39B6-4879-9DAD-FF48CD37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04975"/>
            <a:ext cx="395287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Календарь и история</a:t>
            </a:r>
          </a:p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Поиск, фильтры и CSV</a:t>
            </a:r>
          </a:p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Журнал для администратора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B523AD-58AD-464C-85C8-F1195E2C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790950"/>
            <a:ext cx="39528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Будущие условия меняются со следующего месяца.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C5AB2-E1B5-438D-8CC1-23DFF902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191125"/>
            <a:ext cx="39528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При удалении участника его платежи переходят администратору.</a:t>
            </a:r>
          </a:p>
        </p:txBody>
      </p:sp>
    </p:spTree>
    <p:extLst>
      <p:ext uri="{BB962C8B-B14F-4D97-AF65-F5344CB8AC3E}">
        <p14:creationId xmlns:p14="http://schemas.microsoft.com/office/powerpoint/2010/main" val="21181447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889B-0BE7-42CC-8520-F12A3B98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Проверка и передача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96DD9-71D3-4645-BE43-7FDE35BE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E9FED-D1B8-491F-9B8B-4E3328514226}"/>
              </a:ext>
            </a:extLst>
          </p:cNvPr>
          <p:cNvGraphicFramePr/>
          <p:nvPr/>
        </p:nvGraphicFramePr>
        <p:xfrm>
          <a:off xmlns:a="http://schemas.openxmlformats.org/drawingml/2006/main" x="571500" y="1571625"/>
          <a:ext xmlns:a="http://schemas.openxmlformats.org/drawingml/2006/main" cx="819150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4381500"/>
              </a:tblGrid>
              <a:tr h="6324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Требование кейса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Чем подтверждаем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Роли и закрытые данные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Прямые запросы API и владельцы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Независимые периоды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История, короткие месяцы, даты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Валюты и сохранение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Итоги RUB/USD/EUR, перезапуск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Передача решения</a:t>
                      </a:r>
                    </a:p>
                  </a:txBody>
                  <a:tcPr marL="114300" marR="114300" marT="114300" marB="1143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README, .env.example, OpenAPI</a:t>
                      </a:r>
                    </a:p>
                  </a:txBody>
                  <a:tcPr marL="114300" marR="114300" marT="114300" marB="1143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22532-674D-4C23-B6E7-F8923495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657350"/>
            <a:ext cx="2333625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7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154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DDB9C0-EA0B-4618-AFB0-A199AB68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828925"/>
            <a:ext cx="2333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теста прошли</a:t>
            </a:r>
          </a:p>
          <a:p xmlns:a="http://schemas.openxmlformats.org/drawingml/2006/main">
            <a:pPr>
              <a:defRPr sz="18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локально и на сервере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8D0D43-BBB9-4243-839B-E0A14BF0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124325"/>
            <a:ext cx="2333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25.10.2026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51202-0DA0-4F36-87CE-72CC18C3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33975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Стенд работает по HTTPS. Состояния миграции сохранились.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56770F-F8C4-4672-A8D2-E83ED35A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10953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Группа InKeep подтверждена в веб-панели.</a:t>
            </a:r>
          </a:p>
          <a:p xmlns:a="http://schemas.openxmlformats.org/drawingml/2006/main">
            <a:pPr>
              <a:defRPr sz="17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Bot API принял 2 новых уведомления после подключения.</a:t>
            </a:r>
          </a:p>
        </p:txBody>
      </p:sp>
    </p:spTree>
    <p:extLst>
      <p:ext uri="{BB962C8B-B14F-4D97-AF65-F5344CB8AC3E}">
        <p14:creationId xmlns:p14="http://schemas.microsoft.com/office/powerpoint/2010/main" val="10679517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3A92E-93A8-4B2F-B23C-D45B6D5C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Живая демонстрация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5B537-7641-4299-A02E-FFC371B8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FE36A-152D-4E48-AAE8-AA964F87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04950"/>
            <a:ext cx="714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7C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95036-3604-4C12-9B5A-5EF57B51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504950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Вход администратором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9EA8F-ED31-4A1F-A0D9-2B1C2DE7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714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7C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78D36-846C-4494-BC2D-B59653D2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Создание регулярного платежа за участника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00B81-8557-417D-9898-684232C35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714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7C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48A323-1F89-41F4-8CCE-A9F72D19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686050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Новое напоминание в подтверждённой группе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E9B86-8C46-407E-BEEC-0B443B945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76600"/>
            <a:ext cx="714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7C3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80FE16-BFB5-4304-8CDA-424AF72A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276600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Вход участником A и отметка той же оплаты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DF867E-86AB-44E3-A99E-395DC94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714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7C3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A20730-EB59-4BDB-9A81-969282E5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867150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Собственный просроченный платёж участника 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E4F74D-FB95-4D6F-9656-ED2F2502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57700"/>
            <a:ext cx="714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7C3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6BE07-F149-40A2-9B34-129285F8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457700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Исправление фактической даты и пересчёт просрочки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20E6EE-DC4B-4C69-89D1-F47256EC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714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E97C3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97C3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65BED9-1FB8-4EBA-8581-B3566483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48250"/>
            <a:ext cx="10144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Следующий период с самостоятельным статусом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A5502-71AD-4DF3-AAB9-0907A500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0275"/>
            <a:ext cx="1071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Порядок из PDF, страница 15. Группу и доступы готовят до показа.</a:t>
            </a:r>
          </a:p>
        </p:txBody>
      </p:sp>
    </p:spTree>
    <p:extLst>
      <p:ext uri="{BB962C8B-B14F-4D97-AF65-F5344CB8AC3E}">
        <p14:creationId xmlns:p14="http://schemas.microsoft.com/office/powerpoint/2010/main" val="10989670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9A1AAF-922C-4872-A4C4-C2C9503D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Результат и границы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049476-AABC-495C-AB14-D38423A6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0494C-6801-4BEF-A8C8-05696956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5191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Готовый сценарий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322DF-9A23-469E-A917-15247CB8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57450"/>
            <a:ext cx="5286375" cy="2314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Участник ведёт свои расходы</a:t>
            </a:r>
          </a:p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Администратор контролирует все</a:t>
            </a:r>
          </a:p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История каждого месяца сохраняется</a:t>
            </a:r>
          </a:p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Общий чат получает уведомления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01685-0979-4DCB-B343-064CA0EA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5735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Поддерживаемый объём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B33C6-B5A1-4A77-84C6-BF1D7A7F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57450"/>
            <a:ext cx="5048250" cy="2314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Одна команда и одна группа</a:t>
            </a:r>
          </a:p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Ежемесячные платежи</a:t>
            </a:r>
          </a:p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Ручные отметки оплаты</a:t>
            </a:r>
          </a:p>
          <a:p xmlns:a="http://schemas.openxmlformats.org/drawingml/2006/main">
            <a:pPr>
              <a:defRPr sz="210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Один хост с SQLite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867CE-696B-4AB4-9454-1D516469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3B3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459F0-64F5-47D0-96DB-B1EC1417C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7375"/>
            <a:ext cx="1095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Приложение не списывает деньги. Годовые интервалы, частичные оплаты</a:t>
            </a:r>
          </a:p>
          <a:p xmlns:a="http://schemas.openxmlformats.org/drawingml/2006/main">
            <a:pPr>
              <a:defRPr sz="202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и интеграции с банками остаются за текущим объёмом.</a:t>
            </a:r>
          </a:p>
        </p:txBody>
      </p:sp>
    </p:spTree>
    <p:extLst>
      <p:ext uri="{BB962C8B-B14F-4D97-AF65-F5344CB8AC3E}">
        <p14:creationId xmlns:p14="http://schemas.microsoft.com/office/powerpoint/2010/main" val="20858657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9B8F7E-BF1D-4AFA-B12F-AB36D5F1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Справочник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CD7E5-95DC-4FB0-ADB6-24A2C2DA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4E0667-7162-44A0-979D-5244EE7D6457}"/>
              </a:ext>
            </a:extLst>
          </p:cNvPr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5334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"/>
                <a:gridCol w="4286250"/>
              </a:tblGrid>
              <a:tr h="47625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Метод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Путь после /api/v1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POST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/auth/login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GET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/auth/me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POST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/auth/logout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GET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/recurring-payments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POST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/recurring-payments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DELETE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/recurring-payments/{id}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9863E-79C6-4BEE-8382-5924EC1D6348}"/>
              </a:ext>
            </a:extLst>
          </p:cNvPr>
          <p:cNvGraphicFramePr/>
          <p:nvPr/>
        </p:nvGraphicFramePr>
        <p:xfrm>
          <a:off xmlns:a="http://schemas.openxmlformats.org/drawingml/2006/main" x="6286500" y="1524000"/>
          <a:ext xmlns:a="http://schemas.openxmlformats.org/drawingml/2006/main" cx="5334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"/>
                <a:gridCol w="4286250"/>
              </a:tblGrid>
              <a:tr h="45720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Метод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Путь после /api/v1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T w="9525">
                      <a:solidFill>
                        <a:srgbClr val="3B3B3B"/>
                      </a:solidFill>
                      <a:prstDash val="solid"/>
                    </a:lnT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F1F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GET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/payment-occurrences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GET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/payment-occurrences/{id}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PATCH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/payment-occurrences/{id}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GET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/payments/summary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GET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/users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POST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/users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PATCH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/users/{id}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DELETE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/users/{id}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GET</a:t>
                      </a:r>
                    </a:p>
                  </a:txBody>
                  <a:tcPr marL="76200" marR="76200" marT="76200" marB="76200" anchor="ctr">
                    <a:lnL w="9525">
                      <a:solidFill>
                        <a:srgbClr val="3B3B3B"/>
                      </a:solidFill>
                      <a:prstDash val="solid"/>
                    </a:lnL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F4F4F4"/>
                          </a:solidFill>
                          <a:latin typeface="Arial"/>
                          <a:ea typeface="Arial"/>
                          <a:cs typeface="Arial"/>
                        </a:rPr>
                        <a:t>/docs</a:t>
                      </a:r>
                    </a:p>
                  </a:txBody>
                  <a:tcPr marL="76200" marR="76200" marT="76200" marB="76200" anchor="ctr">
                    <a:lnR w="9525">
                      <a:solidFill>
                        <a:srgbClr val="3B3B3B"/>
                      </a:solidFill>
                      <a:prstDash val="solid"/>
                    </a:lnR>
                    <a:lnB w="9525">
                      <a:solidFill>
                        <a:srgbClr val="3B3B3B"/>
                      </a:solidFill>
                      <a:prstDash val="soli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55B7A6-0703-47FC-BA3E-48743FE0F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00650"/>
            <a:ext cx="5238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Обязательный контракт PDF</a:t>
            </a:r>
          </a:p>
          <a:p xmlns:a="http://schemas.openxmlformats.org/drawingml/2006/main">
            <a:pPr>
              <a:defRPr sz="1950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Страницы 12–14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96057B-9635-4EBE-8D37-C239DFFF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5238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Новые методы приглашений, пароля</a:t>
            </a:r>
          </a:p>
          <a:p xmlns:a="http://schemas.openxmlformats.org/drawingml/2006/main">
            <a: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и чата описаны в OpenAPI.</a:t>
            </a:r>
          </a:p>
        </p:txBody>
      </p:sp>
    </p:spTree>
    <p:extLst>
      <p:ext uri="{BB962C8B-B14F-4D97-AF65-F5344CB8AC3E}">
        <p14:creationId xmlns:p14="http://schemas.microsoft.com/office/powerpoint/2010/main" val="5271137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623414-FDE8-4079-B44E-306E2187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Открыть проект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50AFC-5472-48AD-8711-A5D78B9C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19850"/>
            <a:ext cx="52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D99F2-B519-416A-8A1F-0CE087C1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95425"/>
            <a:ext cx="4810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Telegram-бот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73513-01EE-4156-B6F5-EC9BE2BB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95425"/>
            <a:ext cx="4810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F4F4F4"/>
                </a:solidFill>
                <a:latin typeface="Arial"/>
                <a:ea typeface="Arial"/>
                <a:cs typeface="Arial"/>
              </a:rPr>
              <a:t>Веб-приложение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BFC6E3-06A7-49CB-8BE6-2E7DD487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57425"/>
            <a:ext cx="3238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F670F3-BC97-469C-BB52-0C3A5AD88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57425"/>
            <a:ext cx="3238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C9F431-C7CB-4A9C-A1F5-8D6C43EBD7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2a8dc31b64090"/>
          <a:stretch xmlns:a="http://schemas.openxmlformats.org/drawingml/2006/main"/>
        </p:blipFill>
        <p:spPr>
          <a:xfrm xmlns:a="http://schemas.openxmlformats.org/drawingml/2006/main">
            <a:off x="1057275" y="2505075"/>
            <a:ext cx="2743200" cy="2743200"/>
          </a:xfrm>
          <a:prstGeom xmlns:a="http://schemas.openxmlformats.org/drawingml/2006/main" prst="rect">
            <a:avLst/>
          </a:prstGeom>
        </p:spPr>
      </p:pic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63222-5FA1-4C68-94AC-6A57AF54C8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d521813b514e06"/>
          <a:stretch xmlns:a="http://schemas.openxmlformats.org/drawingml/2006/main"/>
        </p:blipFill>
        <p:spPr>
          <a:xfrm xmlns:a="http://schemas.openxmlformats.org/drawingml/2006/main">
            <a:off x="6667500" y="2352675"/>
            <a:ext cx="3048000" cy="3048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1E5CE-3CDD-49AA-965A-7C7DEB69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24525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@aezainkeep_bot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FB9131-5A1B-4C54-A8BA-5547B14E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24525"/>
            <a:ext cx="5048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4F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4F4F4"/>
                </a:solidFill>
                <a:latin typeface="Arial"/>
                <a:ea typeface="Arial"/>
                <a:cs typeface="Arial"/>
              </a:rPr>
              <a:t>https://138.124.14.93/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DA5A04-8CBD-4EAC-B987-3809D388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3055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5B5B5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5B5B5"/>
                </a:solidFill>
                <a:latin typeface="Arial"/>
                <a:ea typeface="Arial"/>
                <a:cs typeface="Arial"/>
              </a:rPr>
              <a:t>Веб-доступ по учётной записи. Группу подтверждает администратор.</a:t>
            </a:r>
          </a:p>
        </p:txBody>
      </p:sp>
    </p:spTree>
    <p:extLst>
      <p:ext uri="{BB962C8B-B14F-4D97-AF65-F5344CB8AC3E}">
        <p14:creationId xmlns:p14="http://schemas.microsoft.com/office/powerpoint/2010/main" val="12534605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2026-10-25T05:33:30.5180000Z</dcterms:created>
  <dcterms:modified xsi:type="dcterms:W3CDTF">2026-10-25T05:33:30.5180000Z</dcterms:modified>
</coreProperties>
</file>